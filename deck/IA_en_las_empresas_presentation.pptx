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en el orden del proceso: datos, EDA, curación, modelado, resultados y conclusiones.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en el orden del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general que guía 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archivos en esquema estrella. Estructura de panel: unas 10.000 empresas observadas en hasta 16 trimestres (2023 Q1 a 2026 Q2). Hallazgo temprano: industry no aporta información nueva, porque son promedios calculados sobre la propia tabla company. Esto se vuelve importante más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 y Finance lideran en nivel de adopción, unos 8 puntos sobre la última industria, pero todas las industrias crecen a ritmo similar. La relación entre inversión por empleado y productividad es positiva pero débil (r = 0,19). La madurez digital del país se asocia con la adopción (r = 0,52), con muchas excepciones.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adopción y la madurez en IA marcan mucho más diferencia que la inversión. P(mejora mayor a 20 %) pasa de 0,13 % en el cuartil bajo de adopción a 14,8 % en el alto. Los años de uso casi no discriminan. Decisiones de método: un solo corte temporal para no tratar las filas repetidas de una empresa como independientes; none en etapa de adopción se conservó como categoría válida en lugar de tratarla como faltante.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hipótesis que salen del 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join sobre company. En region, que estaba duplicada, se priorizó la versión de country. Faltantes: cerca del 1,5 % por variable, pero en filas distintas, así que borrar todas las filas incompletas costaba un 7,3 %. Por eso se decidió variable por variable: no se fabrica la respuesta ni el estrato.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Decisión central: tres tipos de outlier, no uno. Valores imposibles por definición: 807. Grupos aislados por un hueco vacío y distribuidos uniformemente: 1.003 valores, huella de contaminación sintética; el ejemplo más claro es la satisfacción, con valores de 102 a 104 en una escala de 0 a 10. Colas pesadas legítimas: se conservan; el IQR marcaba alrededor del 18 % como outlier solo por la asimetría.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de fuga: se excluyeron las columnas avg_*, porque predecirían el target con su propio promedio; ai_stage_enc (r = 0,86) y ai_maturity_score (r = 0,84) no pueden predecir la adopción, son el target medido de otra forma. Redundancia: los cuatro indicadores de país se mueven juntos, se redujeron a gdp_per_capita. log1p a inversión e ingresos por asimetría. Decisión central: respetar el panel. Por indicación de la mentora se trabajó primero H1 y luego H3; H2 quedó abierta.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con efectos fijos (TWFE). +10 puntos de adopción se asocian con +2,4 puntos de productividad; duplicar la inversión se asocia con apenas unos +0,2 puntos. El spline confirma una curva, casi plana con inversión baja y que sube después, pero el R² dentro de empresa solo pasa de 0,244 a 0,251.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predictiva: gradient boosting logra R² = 0,43 y MAE = 3,35 en empresas nuevas, casi igual que Ridge (0,43). El límite está en la información disponible, no en la técnica. H3: logit multinomial. +10 puntos de adopción duplican la chance de creación neta y reducen a la mitad la de desplazamiento; +10 puntos de automatización hacen lo contrario (desplazamiento ×4,9).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predictiva: el modelo acierta el 68 % de los casos, frente al 43 % de la referencia. El Random Forest llega al 69 %. La versión ampliada mejora la detección de creación y desplazamiento, pero a costa de la clase neutral: la métrica que se elige cambia cuál es el mejor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Adoptar pesa más que invertir. La IA no crea ni destruye empleo por sí misma: depende de si acompaña el trabajo o lo reemplaza. El sector importa menos de lo que sugería el EDA; la ventaja de Tecnología y Finanzas casi desaparece al controlar por madurez, aunque eso puede ser fuga.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dataset es sintético y tiene huellas de su generador: madurez reconstruible con R² ≈ 0,996, tasas de empleo con r ≈ 0,85 con adopción y automatización. Las asociaciones no son causales y se miden en el mismo trimestre. La evaluación es sobre empresas nuevas, no sobre períodos futuros.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318135" y="754261"/>
            <a:ext cx="2009552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DATOS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34058" y="4248150"/>
            <a:ext cx="17722036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34"/>
              </a:lnSpc>
              <a:buNone/>
            </a:pPr>
            <a:r>
              <a:rPr lang="en-US" sz="16500" b="1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en las empresas</a:t>
            </a:r>
            <a:endParaRPr lang="en-US" sz="16500" dirty="0"/>
          </a:p>
        </p:txBody>
      </p:sp>
      <p:sp>
        <p:nvSpPr>
          <p:cNvPr id="5" name="Text 3"/>
          <p:cNvSpPr/>
          <p:nvPr/>
        </p:nvSpPr>
        <p:spPr>
          <a:xfrm>
            <a:off x="1143000" y="6442621"/>
            <a:ext cx="353187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Panel de 10.000 empresas, 2023–2026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257800" y="6442621"/>
            <a:ext cx="800557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Datos, curación, modelado y resultados sobre la adopción de IA, la productividad y el empleo.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8755410"/>
            <a:ext cx="2780958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Presentación de proyecto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2593" y="8755410"/>
            <a:ext cx="12427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62115" y="8755410"/>
            <a:ext cx="146635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Octubre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Contenido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4183410"/>
            <a:ext cx="31715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5980A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57800" y="4076700"/>
            <a:ext cx="21634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Datos y EDA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5326410"/>
            <a:ext cx="31715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5980A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57800" y="5219700"/>
            <a:ext cx="16202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Curación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6469410"/>
            <a:ext cx="31715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5980A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57800" y="6362700"/>
            <a:ext cx="37535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Diseño del modelado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7612410"/>
            <a:ext cx="31715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5980A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7505700"/>
            <a:ext cx="47720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30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Resultados y conclusiones</a:t>
            </a:r>
            <a:endParaRPr lang="en-US" sz="3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09520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81604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 · DATOS Y EDA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002161"/>
            <a:ext cx="11772900" cy="1379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75"/>
              </a:lnSpc>
              <a:buNone/>
            </a:pPr>
            <a:r>
              <a:rPr lang="en-US" sz="48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“Más allá del entusiasmo por la IA, ¿qué muestran los datos sobre su efecto en las empresas?”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6442621"/>
            <a:ext cx="217260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647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— Pregunta general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09520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81604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 · DATOS Y EDA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Datos en esquema estrella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25147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TABLA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57800" y="25147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TAMAÑO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72600" y="251474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429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1958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</a:t>
            </a:r>
            <a:endParaRPr lang="en-US" sz="1958" dirty="0"/>
          </a:p>
        </p:txBody>
      </p:sp>
      <p:sp>
        <p:nvSpPr>
          <p:cNvPr id="9" name="Text 7"/>
          <p:cNvSpPr/>
          <p:nvPr/>
        </p:nvSpPr>
        <p:spPr>
          <a:xfrm>
            <a:off x="5257800" y="3429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150.025 × 43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372600" y="342914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Tabla central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143000" y="4572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1958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1958" dirty="0"/>
          </a:p>
        </p:txBody>
      </p:sp>
      <p:sp>
        <p:nvSpPr>
          <p:cNvPr id="12" name="Text 10"/>
          <p:cNvSpPr/>
          <p:nvPr/>
        </p:nvSpPr>
        <p:spPr>
          <a:xfrm>
            <a:off x="5257800" y="4572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30 países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372600" y="457214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Contexto macro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143000" y="5715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1958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industry</a:t>
            </a:r>
            <a:endParaRPr lang="en-US" sz="1958" dirty="0"/>
          </a:p>
        </p:txBody>
      </p:sp>
      <p:sp>
        <p:nvSpPr>
          <p:cNvPr id="15" name="Text 13"/>
          <p:cNvSpPr/>
          <p:nvPr/>
        </p:nvSpPr>
        <p:spPr>
          <a:xfrm>
            <a:off x="5257800" y="5715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 industrias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372600" y="571514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Promedios de company: no aporta información nueva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143000" y="7585621"/>
            <a:ext cx="10578182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Panel: unas 10.000 empresas observadas en hasta 16 trimestres (2023 Q1 a 2026 Q2).</a:t>
            </a:r>
            <a:endParaRPr lang="en-US" sz="2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09520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81604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 · DATOS Y EDA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134500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Adopción mediana por industria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2278023" y="2126159"/>
            <a:ext cx="535367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Technology y Finance ≈ 8 pts arriba · ritmo similar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3200400"/>
            <a:ext cx="1156335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rcRect l="-114" r="-114" t="0" b="0"/>
          <a:stretch/>
        </p:blipFill>
        <p:spPr>
          <a:xfrm>
            <a:off x="1152525" y="3209925"/>
            <a:ext cx="11544300" cy="523875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755410"/>
            <a:ext cx="209520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81604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 · DATOS Y EDA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01923" y="2834580"/>
            <a:ext cx="10582602" cy="2918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98"/>
              </a:lnSpc>
              <a:buNone/>
            </a:pPr>
            <a:r>
              <a:rPr lang="en-US" sz="32400" b="1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14,8 %</a:t>
            </a:r>
            <a:endParaRPr lang="en-US" sz="32400" dirty="0"/>
          </a:p>
        </p:txBody>
      </p:sp>
      <p:sp>
        <p:nvSpPr>
          <p:cNvPr id="5" name="Text 3"/>
          <p:cNvSpPr/>
          <p:nvPr/>
        </p:nvSpPr>
        <p:spPr>
          <a:xfrm>
            <a:off x="9372600" y="6442621"/>
            <a:ext cx="800557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P(mejora &gt; 20 %) en el cuartil alto de adopción, frente a 0,13 % en el bajo. Adopción y madurez marcan más diferencia que la inversión.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09520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81604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 · DATOS Y EDA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Hipótesis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162449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4156770"/>
            <a:ext cx="402336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Inversión → productividad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257800" y="3162449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57800" y="4156770"/>
            <a:ext cx="3767328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Diferencias entre industrias con controles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72600" y="3162449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372600" y="4156770"/>
            <a:ext cx="3767328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IA → destrucción o transformación del empleo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09520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534954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 · CURACIÓN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Faltantes, variable por variable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2514749"/>
            <a:ext cx="61287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FALTANTE 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0" y="2514749"/>
            <a:ext cx="1012469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TRATAMIENTO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429149"/>
            <a:ext cx="61287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Target, industria o tamaño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7315200" y="3429149"/>
            <a:ext cx="1012469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 elimina la fila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143000" y="4572149"/>
            <a:ext cx="61287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Predictoras numéricas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7315200" y="4572149"/>
            <a:ext cx="1012469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Mediana del estrato industria × tamaño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143000" y="5715149"/>
            <a:ext cx="61287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Categóricas sin respuesta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7315200" y="5715149"/>
            <a:ext cx="1012469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Moda más un indicador de no respuesta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143000" y="7585621"/>
            <a:ext cx="12316629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≈ 1,5 % faltante por variable, en filas distintas: borrar todas las filas incompletas costaba un 7,3 %.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09520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534954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 · CURACIÓN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Tres tipos de outlier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162449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807 imposibles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4156770"/>
            <a:ext cx="3767328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Tasas fuera de 0–100 y montos negativos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257800" y="3162449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1.003 sintéticos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57800" y="4156770"/>
            <a:ext cx="3767328" cy="1139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Grupos aislados y uniformes: satisfacción de 102 a 104 en escala 0–10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72600" y="3162449"/>
            <a:ext cx="4023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Colas pesadas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372600" y="4156770"/>
            <a:ext cx="3767328" cy="1139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Legítimas, se conservan. El IQR marcaba ≈ 18 % solo por asimetría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7585621"/>
            <a:ext cx="1551897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Celdas inválidas tratadas una a una; filas eliminadas solo si el inválido era el target. Resultado: unas 143.000 observaciones.</a:t>
            </a:r>
            <a:endParaRPr lang="en-US" sz="2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09520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288737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 · DISEÑO DEL MODELADO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Diseño del modelado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162449"/>
            <a:ext cx="85496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Fuga y redundancia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4156770"/>
            <a:ext cx="854964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Fuera las columnas </a:t>
            </a:r>
            <a:pPr algn="l" indent="0" marL="0">
              <a:lnSpc>
                <a:spcPct val="141176"/>
              </a:lnSpc>
              <a:buNone/>
            </a:pPr>
            <a:r>
              <a:rPr lang="en-US" sz="1890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avg_*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4842421"/>
            <a:ext cx="8005572" cy="710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1890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ai_stage_enc </a:t>
            </a:r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 </a:t>
            </a:r>
            <a:pPr algn="l" indent="0" marL="0">
              <a:lnSpc>
                <a:spcPct val="141176"/>
              </a:lnSpc>
              <a:buNone/>
            </a:pPr>
            <a:r>
              <a:rPr lang="en-US" sz="1890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ai_maturity_score </a:t>
            </a:r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(r ≈ 0,85): el target medido de otra forma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6013847"/>
            <a:ext cx="854964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País reducido a </a:t>
            </a:r>
            <a:pPr algn="l" indent="0" marL="0">
              <a:lnSpc>
                <a:spcPct val="141176"/>
              </a:lnSpc>
              <a:buNone/>
            </a:pPr>
            <a:r>
              <a:rPr lang="en-US" sz="1890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gdp_per_capita</a:t>
            </a:r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; </a:t>
            </a:r>
            <a:pPr algn="l" indent="0" marL="0">
              <a:lnSpc>
                <a:spcPct val="141176"/>
              </a:lnSpc>
              <a:buNone/>
            </a:pPr>
            <a:r>
              <a:rPr lang="en-US" sz="1890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log1p </a:t>
            </a:r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 inversión e ingresos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72600" y="3162449"/>
            <a:ext cx="85496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Respetar el panel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372600" y="4156770"/>
            <a:ext cx="854964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Partición train/test agrupada por empresa (8.014 / 2.004)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372600" y="4842421"/>
            <a:ext cx="854964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Validación cruzada con </a:t>
            </a:r>
            <a:pPr algn="l" indent="0" marL="0">
              <a:lnSpc>
                <a:spcPct val="141176"/>
              </a:lnSpc>
              <a:buNone/>
            </a:pPr>
            <a:r>
              <a:rPr lang="en-US" sz="1890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GroupKFold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72600" y="5528072"/>
            <a:ext cx="854964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Efectos fijos de empresa y período en H1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7585621"/>
            <a:ext cx="12572181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Primero H1, luego H3; H2 quedó abierta. Para cada hipótesis, un modelo explicativo y uno predictivo.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21560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79705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 · RESULTADOS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H1: inversión y productividad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3200400"/>
            <a:ext cx="1080135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2525" y="3209925"/>
            <a:ext cx="10782300" cy="75827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87400" y="3200400"/>
            <a:ext cx="40233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721"/>
              </a:lnSpc>
              <a:buNone/>
            </a:pPr>
            <a:r>
              <a:rPr lang="en-US" sz="5400" b="1" dirty="0">
                <a:solidFill>
                  <a:srgbClr val="41618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+2,4 pts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3487400" y="4000500"/>
            <a:ext cx="376732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 productividad por +10 pts de adopción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3487400" y="5227141"/>
            <a:ext cx="40233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721"/>
              </a:lnSpc>
              <a:buNone/>
            </a:pPr>
            <a:r>
              <a:rPr lang="en-US" sz="5400" b="1" dirty="0">
                <a:solidFill>
                  <a:srgbClr val="41618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+0,2 pts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3487400" y="6027241"/>
            <a:ext cx="402336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 duplicar la inversión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3487400" y="6907262"/>
            <a:ext cx="40233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721"/>
              </a:lnSpc>
              <a:buNone/>
            </a:pPr>
            <a:r>
              <a:rPr lang="en-US" sz="5400" b="1" dirty="0">
                <a:solidFill>
                  <a:srgbClr val="41618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0,244 → 0,251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13487400" y="7707362"/>
            <a:ext cx="376732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R² dentro de empresa con spline</a:t>
            </a:r>
            <a:endParaRPr lang="en-US" sz="2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755410"/>
            <a:ext cx="221560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79705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 · RESULTADOS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Resultados por modelo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25147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HIPÓTESIS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57800" y="25147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72600" y="251474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C2020">
                    <a:alpha val="6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429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H1 explicativa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5257800" y="3429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TWFE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372600" y="342914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+10 pts de adopción → +2,4 pts de productividad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143000" y="4572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H1 predictiva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5257800" y="4572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Gradient boosting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372600" y="457214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R² = 0,43, MAE = 3,35 (Ridge: 0,43)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143000" y="5715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H3 explicativa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5257800" y="5715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Logit multinomial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372600" y="571514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+10 pts adopción: creación ×2 · +10 pts automatización: desplazamiento ×4,9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143000" y="6858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H3 predictiva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5257800" y="6858149"/>
            <a:ext cx="40096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Logit · Random Forest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9372600" y="6858149"/>
            <a:ext cx="80055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28429"/>
              </a:lnSpc>
              <a:buNone/>
            </a:pPr>
            <a:r>
              <a:rPr lang="en-US" sz="2175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68 % · 69 % de acierto (referencia: 43 %)</a:t>
            </a:r>
            <a:endParaRPr lang="en-US" sz="217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21560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179705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 · RESULTADOS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9215616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H3: predicción del empleo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2719000" y="2126159"/>
            <a:ext cx="48686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Acierto: logit 68 % · RF 69 % · referencia 43 %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3200400"/>
            <a:ext cx="12277725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rcRect l="-134" r="-134" t="0" b="0"/>
          <a:stretch/>
        </p:blipFill>
        <p:spPr>
          <a:xfrm>
            <a:off x="1152525" y="3209925"/>
            <a:ext cx="12258675" cy="43243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8042821"/>
            <a:ext cx="17010221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RF ampliado detecta mejor creación y desplazamiento, a costa de la clase neutral: la métrica elegida cambia cuál es el mejor modelo.</a:t>
            </a:r>
            <a:endParaRPr lang="en-US" sz="2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755410"/>
            <a:ext cx="221560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206374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05 · CONCLUSIONES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Conclusiones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6305" y="3202335"/>
            <a:ext cx="11923395" cy="3464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73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Adoptar pesa más que invertir.</a:t>
            </a:r>
            <a:endParaRPr lang="en-US" sz="2550" dirty="0"/>
          </a:p>
          <a:p>
            <a:pPr algn="l" indent="0" marL="0">
              <a:lnSpc>
                <a:spcPct val="117073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IA no crea ni destruye empleo por sí misma: depende de si acompaña el trabajo o lo reemplaza.</a:t>
            </a:r>
            <a:endParaRPr lang="en-US" sz="2550" dirty="0"/>
          </a:p>
          <a:p>
            <a:pPr algn="l" indent="0" marL="0">
              <a:lnSpc>
                <a:spcPct val="117073"/>
              </a:lnSpc>
              <a:buNone/>
            </a:pPr>
            <a:r>
              <a:rPr lang="en-US" sz="255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sector importa menos de lo que sugería el EDA; la ventaja de Tecnología y Finanzas casi desaparece al controlar por madurez, aunque eso puede ser fuga.</a:t>
            </a:r>
            <a:endParaRPr lang="en-US" sz="2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21560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754261"/>
            <a:ext cx="206374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05 · CONCLUSIONES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5524" y="1646039"/>
            <a:ext cx="17654424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78"/>
              </a:lnSpc>
              <a:buNone/>
            </a:pPr>
            <a:r>
              <a:rPr lang="en-US" sz="72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Límites y próximos pasos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3162449"/>
            <a:ext cx="85496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Límites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6310" y="4156770"/>
            <a:ext cx="8035290" cy="2053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Dataset sintético con huellas del generador (madurez reconstruible con R² ≈ 0,996)</a:t>
            </a:r>
            <a:endParaRPr lang="en-US" sz="2100" dirty="0"/>
          </a:p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Asociaciones no causales, medidas en el mismo trimestre</a:t>
            </a:r>
            <a:endParaRPr lang="en-US" sz="2100" dirty="0"/>
          </a:p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Evaluación sobre empresas nuevas, no sobre períodos futuros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72600" y="3162449"/>
            <a:ext cx="85496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45" kern="0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372600" y="4156770"/>
            <a:ext cx="854964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Validación temporal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72600" y="4842421"/>
            <a:ext cx="854964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Variables rezagadas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72600" y="5528072"/>
            <a:ext cx="854964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Modelo de efectos mixtos para H2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372600" y="6213723"/>
            <a:ext cx="854964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Modelar la reconversión de puestos (</a:t>
            </a:r>
            <a:pPr algn="l" indent="0" marL="0">
              <a:lnSpc>
                <a:spcPct val="141176"/>
              </a:lnSpc>
              <a:buNone/>
            </a:pPr>
            <a:r>
              <a:rPr lang="en-US" sz="1890" dirty="0">
                <a:solidFill>
                  <a:srgbClr val="1D1F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reskilling_rate</a:t>
            </a:r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</a:t>
            </a:r>
            <a:endParaRPr lang="en-US" sz="2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755410"/>
            <a:ext cx="2215604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9525">
            <a:solidFill>
              <a:srgbClr val="1A1A26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318135" y="754261"/>
            <a:ext cx="2009552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b="1" spc="144" kern="0" dirty="0">
                <a:solidFill>
                  <a:srgbClr val="5980A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ANÁLISIS DE DATOS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34058" y="4248150"/>
            <a:ext cx="17722036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6500" b="1" dirty="0">
                <a:solidFill>
                  <a:srgbClr val="1D1F2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Gracias</a:t>
            </a:r>
            <a:endParaRPr lang="en-US" sz="16500" dirty="0"/>
          </a:p>
        </p:txBody>
      </p:sp>
      <p:sp>
        <p:nvSpPr>
          <p:cNvPr id="5" name="Text 3"/>
          <p:cNvSpPr/>
          <p:nvPr/>
        </p:nvSpPr>
        <p:spPr>
          <a:xfrm>
            <a:off x="1143000" y="6442621"/>
            <a:ext cx="3164041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100" dirty="0">
                <a:solidFill>
                  <a:srgbClr val="1D1F21">
                    <a:alpha val="5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Preguntas y comentarios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2026-10-10T12:25:05Z</dcterms:created>
  <dcterms:modified xsi:type="dcterms:W3CDTF">2026-10-10T12:25:05Z</dcterms:modified>
</cp:coreProperties>
</file>