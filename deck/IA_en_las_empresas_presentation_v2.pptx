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946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Adopción</c:v>
          </c:tx>
          <c:spPr>
            <a:solidFill>
              <a:srgbClr val="5980A6"/>
            </a:solidFill>
          </c:spPr>
          <c:invertIfNegative val="0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>
                    <a:latin typeface="Arial"/>
                    <a:ea typeface="Arial"/>
                    <a:cs typeface="Arial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Q1 bajo</c:v>
                </c:pt>
                <c:pt idx="1">
                  <c:v>Q2</c:v>
                </c:pt>
                <c:pt idx="2">
                  <c:v>Q3</c:v>
                </c:pt>
                <c:pt idx="3">
                  <c:v>Q4 alto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1.2998267E-3</c:v>
                </c:pt>
                <c:pt idx="1">
                  <c:v>5.1993068000000002E-3</c:v>
                </c:pt>
                <c:pt idx="2">
                  <c:v>2.8596187200000001E-2</c:v>
                </c:pt>
                <c:pt idx="3">
                  <c:v>0.14781100999999999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D0-4251-B5C6-9B0B480761FB}"/>
            </c:ext>
          </c:extLst>
        </c:ser>
        <c:ser>
          <c:idx val="1"/>
          <c:order val="1"/>
          <c:tx>
            <c:v>Inversión</c:v>
          </c:tx>
          <c:spPr>
            <a:solidFill>
              <a:srgbClr val="A3B6C7"/>
            </a:solidFill>
          </c:spPr>
          <c:invertIfNegative val="0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>
                    <a:latin typeface="Arial"/>
                    <a:ea typeface="Arial"/>
                    <a:cs typeface="Arial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Q1 bajo</c:v>
                </c:pt>
                <c:pt idx="1">
                  <c:v>Q2</c:v>
                </c:pt>
                <c:pt idx="2">
                  <c:v>Q3</c:v>
                </c:pt>
                <c:pt idx="3">
                  <c:v>Q4 alto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2.1663778200000001E-2</c:v>
                </c:pt>
                <c:pt idx="1">
                  <c:v>3.5528596199999998E-2</c:v>
                </c:pt>
                <c:pt idx="2">
                  <c:v>5.0715214600000003E-2</c:v>
                </c:pt>
                <c:pt idx="3">
                  <c:v>7.4956672399999993E-2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D0-4251-B5C6-9B0B480761F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22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s-A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18"/>
          <c:min val="0"/>
        </c:scaling>
        <c:delete val="0"/>
        <c:axPos val="l"/>
        <c:majorGridlines>
          <c:spPr>
            <a:ln w="9525">
              <a:solidFill>
                <a:srgbClr val="D3DAE0"/>
              </a:solidFill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21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s-AR"/>
          </a:p>
        </c:txPr>
        <c:crossAx val="48650112"/>
        <c:crosses val="autoZero"/>
        <c:crossBetween val="between"/>
        <c:majorUnit val="0.06"/>
      </c:valAx>
      <c:spPr>
        <a:solidFill>
          <a:srgbClr val="F2F2F3"/>
        </a:solidFill>
      </c:spPr>
    </c:plotArea>
    <c:legend>
      <c:legendPos val="b"/>
      <c:overlay val="0"/>
      <c:txPr>
        <a:bodyPr anchorCtr="1"/>
        <a:lstStyle/>
        <a:p>
          <a:pPr>
            <a:defRPr sz="2250">
              <a:latin typeface="Arial"/>
              <a:ea typeface="Arial"/>
              <a:cs typeface="Arial"/>
            </a:defRPr>
          </a:pPr>
          <a:endParaRPr lang="es-AR"/>
        </a:p>
      </c:txPr>
    </c:legend>
    <c:plotVisOnly val="1"/>
    <c:dispBlanksAs val="zero"/>
    <c:showDLblsOverMax val="1"/>
  </c:chart>
  <c:spPr>
    <a:solidFill>
      <a:srgbClr val="F2F2F3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Cambio de productividad</c:v>
          </c:tx>
          <c:spPr>
            <a:solidFill>
              <a:srgbClr val="5980A6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>
                    <a:solidFill>
                      <a:srgbClr val="525D66"/>
                    </a:solidFill>
                    <a:latin typeface="Arial"/>
                    <a:ea typeface="Arial"/>
                    <a:cs typeface="Arial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Inversión
sin adopción</c:v>
                </c:pt>
                <c:pt idx="1">
                  <c:v>Inversión
con adopción</c:v>
                </c:pt>
                <c:pt idx="2">
                  <c:v>Adopción
con inversión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1.0463618574</c:v>
                </c:pt>
                <c:pt idx="1">
                  <c:v>0.24199065559999999</c:v>
                </c:pt>
                <c:pt idx="2">
                  <c:v>2.3361099214999999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2D-4A97-ACD9-AED2BFE243C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20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s-A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.8"/>
          <c:min val="0"/>
        </c:scaling>
        <c:delete val="0"/>
        <c:axPos val="l"/>
        <c:majorGridlines>
          <c:spPr>
            <a:ln w="9525">
              <a:solidFill>
                <a:srgbClr val="D3DAE0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s-AR"/>
          </a:p>
        </c:txPr>
        <c:crossAx val="48650112"/>
        <c:crosses val="autoZero"/>
        <c:crossBetween val="between"/>
      </c:valAx>
      <c:spPr>
        <a:solidFill>
          <a:srgbClr val="F2F2F3"/>
        </a:solidFill>
      </c:spPr>
    </c:plotArea>
    <c:plotVisOnly val="1"/>
    <c:dispBlanksAs val="zero"/>
    <c:showDLblsOverMax val="1"/>
  </c:chart>
  <c:spPr>
    <a:solidFill>
      <a:srgbClr val="F2F2F3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Sin adopción</c:v>
          </c:tx>
          <c:spPr>
            <a:solidFill>
              <a:srgbClr val="5980A6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>
                    <a:solidFill>
                      <a:srgbClr val="525D66"/>
                    </a:solidFill>
                    <a:latin typeface="Arial"/>
                    <a:ea typeface="Arial"/>
                    <a:cs typeface="Arial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Completa</c:v>
                </c:pt>
                <c:pt idx="1">
                  <c:v>Sin leverage
alto</c:v>
                </c:pt>
                <c:pt idx="2">
                  <c:v>Sin residuos
extremos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1.2733880238999999</c:v>
                </c:pt>
                <c:pt idx="1">
                  <c:v>4.4260162419000002</c:v>
                </c:pt>
                <c:pt idx="2">
                  <c:v>1.2739076201999999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78-460B-A6AD-639DF92C9CE3}"/>
            </c:ext>
          </c:extLst>
        </c:ser>
        <c:ser>
          <c:idx val="1"/>
          <c:order val="1"/>
          <c:tx>
            <c:v>Con adopción</c:v>
          </c:tx>
          <c:spPr>
            <a:solidFill>
              <a:srgbClr val="D98B39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>
                    <a:solidFill>
                      <a:srgbClr val="525D66"/>
                    </a:solidFill>
                    <a:latin typeface="Arial"/>
                    <a:ea typeface="Arial"/>
                    <a:cs typeface="Arial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Data'!$C$2:$C$4</c:f>
              <c:strCache>
                <c:ptCount val="3"/>
                <c:pt idx="0">
                  <c:v>Completa</c:v>
                </c:pt>
                <c:pt idx="1">
                  <c:v>Sin leverage
alto</c:v>
                </c:pt>
                <c:pt idx="2">
                  <c:v>Sin residuos
extremos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0.29449468229999998</c:v>
                </c:pt>
                <c:pt idx="1">
                  <c:v>1.6031998247000001</c:v>
                </c:pt>
                <c:pt idx="2">
                  <c:v>0.29450705170000002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78-460B-A6AD-639DF92C9CE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20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s-A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w="9525">
              <a:solidFill>
                <a:srgbClr val="D3DAE0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s-AR"/>
          </a:p>
        </c:txPr>
        <c:crossAx val="48650112"/>
        <c:crosses val="autoZero"/>
        <c:crossBetween val="between"/>
      </c:valAx>
      <c:spPr>
        <a:solidFill>
          <a:srgbClr val="F2F2F3"/>
        </a:solidFill>
      </c:spPr>
    </c:plotArea>
    <c:legend>
      <c:legendPos val="b"/>
      <c:overlay val="0"/>
      <c:txPr>
        <a:bodyPr anchorCtr="1"/>
        <a:lstStyle/>
        <a:p>
          <a:pPr>
            <a:defRPr sz="2025">
              <a:latin typeface="Arial"/>
              <a:ea typeface="Arial"/>
              <a:cs typeface="Arial"/>
            </a:defRPr>
          </a:pPr>
          <a:endParaRPr lang="es-AR"/>
        </a:p>
      </c:txPr>
    </c:legend>
    <c:plotVisOnly val="1"/>
    <c:dispBlanksAs val="zero"/>
    <c:showDLblsOverMax val="1"/>
  </c:chart>
  <c:spPr>
    <a:solidFill>
      <a:srgbClr val="F2F2F3"/>
    </a:solidFill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MAE en empresas nuevas</c:v>
          </c:tx>
          <c:spPr>
            <a:solidFill>
              <a:srgbClr val="5980A6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>
                    <a:solidFill>
                      <a:srgbClr val="525D66"/>
                    </a:solidFill>
                    <a:latin typeface="Arial"/>
                    <a:ea typeface="Arial"/>
                    <a:cs typeface="Arial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Media train</c:v>
                </c:pt>
                <c:pt idx="1">
                  <c:v>Ridge</c:v>
                </c:pt>
                <c:pt idx="2">
                  <c:v>Gradient boosting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4.6657221533</c:v>
                </c:pt>
                <c:pt idx="1">
                  <c:v>3.3567433759999998</c:v>
                </c:pt>
                <c:pt idx="2">
                  <c:v>3.3406262411999998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D7-490D-8E8D-1C4C6F06568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20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s-A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.5"/>
          <c:min val="0"/>
        </c:scaling>
        <c:delete val="0"/>
        <c:axPos val="l"/>
        <c:majorGridlines>
          <c:spPr>
            <a:ln w="9525">
              <a:solidFill>
                <a:srgbClr val="D3DAE0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s-AR"/>
          </a:p>
        </c:txPr>
        <c:crossAx val="48650112"/>
        <c:crosses val="autoZero"/>
        <c:crossBetween val="between"/>
      </c:valAx>
      <c:spPr>
        <a:solidFill>
          <a:srgbClr val="F2F2F3"/>
        </a:solidFill>
      </c:spPr>
    </c:plotArea>
    <c:plotVisOnly val="1"/>
    <c:dispBlanksAs val="zero"/>
    <c:showDLblsOverMax val="1"/>
  </c:chart>
  <c:spPr>
    <a:solidFill>
      <a:srgbClr val="F2F2F3"/>
    </a:solidFill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Observaciones neutrales</c:v>
          </c:tx>
          <c:spPr>
            <a:solidFill>
              <a:srgbClr val="D98B39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>
                    <a:solidFill>
                      <a:srgbClr val="525D66"/>
                    </a:solidFill>
                    <a:latin typeface="Arial"/>
                    <a:ea typeface="Arial"/>
                    <a:cs typeface="Arial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10–99 empleados</c:v>
                </c:pt>
                <c:pt idx="1">
                  <c:v>100–999 empleados</c:v>
                </c:pt>
                <c:pt idx="2">
                  <c:v>1000+ empleados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0.40930532889999999</c:v>
                </c:pt>
                <c:pt idx="1">
                  <c:v>5.66440473E-2</c:v>
                </c:pt>
                <c:pt idx="2">
                  <c:v>3.4555444000000002E-3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05-4B51-931A-C8E6E4437CF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20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s-A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w="9525">
              <a:solidFill>
                <a:srgbClr val="D3DAE0"/>
              </a:solidFill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s-AR"/>
          </a:p>
        </c:txPr>
        <c:crossAx val="48650112"/>
        <c:crosses val="autoZero"/>
        <c:crossBetween val="between"/>
      </c:valAx>
      <c:spPr>
        <a:solidFill>
          <a:srgbClr val="F2F2F3"/>
        </a:solidFill>
      </c:spPr>
    </c:plotArea>
    <c:plotVisOnly val="1"/>
    <c:dispBlanksAs val="zero"/>
    <c:showDLblsOverMax val="1"/>
  </c:chart>
  <c:spPr>
    <a:solidFill>
      <a:srgbClr val="F2F2F3"/>
    </a:solidFill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Adopción (+10 puntos)</c:v>
          </c:tx>
          <c:spPr>
            <a:solidFill>
              <a:srgbClr val="368579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Creación / neutral</c:v>
                </c:pt>
                <c:pt idx="1">
                  <c:v>Desplazamiento / neutral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0.7900930571</c:v>
                </c:pt>
                <c:pt idx="1">
                  <c:v>-0.75493648859999996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15-481C-970C-4947490FE912}"/>
            </c:ext>
          </c:extLst>
        </c:ser>
        <c:ser>
          <c:idx val="1"/>
          <c:order val="1"/>
          <c:tx>
            <c:v>Automatización (+10 puntos)</c:v>
          </c:tx>
          <c:spPr>
            <a:solidFill>
              <a:srgbClr val="B75C66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Creación / neutral</c:v>
                </c:pt>
                <c:pt idx="1">
                  <c:v>Desplazamiento / neutral</c:v>
                </c:pt>
              </c:strCache>
            </c:str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-1.6551509985999999</c:v>
                </c:pt>
                <c:pt idx="1">
                  <c:v>1.5978599178999999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15-481C-970C-4947490FE91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20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s-A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"/>
          <c:min val="-2"/>
        </c:scaling>
        <c:delete val="0"/>
        <c:axPos val="l"/>
        <c:majorGridlines>
          <c:spPr>
            <a:ln w="9525">
              <a:solidFill>
                <a:srgbClr val="D3DAE0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s-AR"/>
          </a:p>
        </c:txPr>
        <c:crossAx val="48650112"/>
        <c:crosses val="autoZero"/>
        <c:crossBetween val="between"/>
      </c:valAx>
      <c:spPr>
        <a:solidFill>
          <a:srgbClr val="F2F2F3"/>
        </a:solidFill>
      </c:spPr>
    </c:plotArea>
    <c:legend>
      <c:legendPos val="b"/>
      <c:overlay val="0"/>
      <c:txPr>
        <a:bodyPr anchorCtr="1"/>
        <a:lstStyle/>
        <a:p>
          <a:pPr>
            <a:defRPr sz="2025">
              <a:latin typeface="Arial"/>
              <a:ea typeface="Arial"/>
              <a:cs typeface="Arial"/>
            </a:defRPr>
          </a:pPr>
          <a:endParaRPr lang="es-AR"/>
        </a:p>
      </c:txPr>
    </c:legend>
    <c:plotVisOnly val="1"/>
    <c:dispBlanksAs val="zero"/>
    <c:showDLblsOverMax val="1"/>
  </c:chart>
  <c:spPr>
    <a:solidFill>
      <a:srgbClr val="F2F2F3"/>
    </a:solidFill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Modelo</c:v>
          </c:tx>
          <c:spPr>
            <a:solidFill>
              <a:srgbClr val="5980A6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>
                    <a:solidFill>
                      <a:srgbClr val="525D66"/>
                    </a:solidFill>
                    <a:latin typeface="Arial"/>
                    <a:ea typeface="Arial"/>
                    <a:cs typeface="Arial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Mismo trimestre</c:v>
                </c:pt>
                <c:pt idx="1">
                  <c:v>t−1 exacto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3.4479534910999998</c:v>
                </c:pt>
                <c:pt idx="1">
                  <c:v>4.3150061331999998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EC-46F6-98F9-ADF59275CB3C}"/>
            </c:ext>
          </c:extLst>
        </c:ser>
        <c:ser>
          <c:idx val="1"/>
          <c:order val="1"/>
          <c:tx>
            <c:v>Referencia train</c:v>
          </c:tx>
          <c:spPr>
            <a:solidFill>
              <a:srgbClr val="9CA7AF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>
                    <a:solidFill>
                      <a:srgbClr val="525D66"/>
                    </a:solidFill>
                    <a:latin typeface="Arial"/>
                    <a:ea typeface="Arial"/>
                    <a:cs typeface="Arial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Mismo trimestre</c:v>
                </c:pt>
                <c:pt idx="1">
                  <c:v>t−1 exacto</c:v>
                </c:pt>
              </c:strCache>
            </c:str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4.7937196903999997</c:v>
                </c:pt>
                <c:pt idx="1">
                  <c:v>4.7870662595000004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EC-46F6-98F9-ADF59275CB3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20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s-A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9525">
              <a:solidFill>
                <a:srgbClr val="D3DAE0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s-AR"/>
          </a:p>
        </c:txPr>
        <c:crossAx val="48650112"/>
        <c:crosses val="autoZero"/>
        <c:crossBetween val="between"/>
      </c:valAx>
      <c:spPr>
        <a:solidFill>
          <a:srgbClr val="F2F2F3"/>
        </a:solidFill>
      </c:spPr>
    </c:plotArea>
    <c:legend>
      <c:legendPos val="b"/>
      <c:overlay val="0"/>
      <c:txPr>
        <a:bodyPr anchorCtr="1"/>
        <a:lstStyle/>
        <a:p>
          <a:pPr>
            <a:defRPr sz="2025">
              <a:latin typeface="Arial"/>
              <a:ea typeface="Arial"/>
              <a:cs typeface="Arial"/>
            </a:defRPr>
          </a:pPr>
          <a:endParaRPr lang="es-AR"/>
        </a:p>
      </c:txPr>
    </c:legend>
    <c:plotVisOnly val="1"/>
    <c:dispBlanksAs val="zero"/>
    <c:showDLblsOverMax val="1"/>
  </c:chart>
  <c:spPr>
    <a:solidFill>
      <a:srgbClr val="F2F2F3"/>
    </a:solidFill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Modelo</c:v>
          </c:tx>
          <c:spPr>
            <a:solidFill>
              <a:srgbClr val="5980A6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>
                    <a:solidFill>
                      <a:srgbClr val="525D66"/>
                    </a:solidFill>
                    <a:latin typeface="Arial"/>
                    <a:ea typeface="Arial"/>
                    <a:cs typeface="Arial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Mismo trimestre</c:v>
                </c:pt>
                <c:pt idx="1">
                  <c:v>t−1 exacto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0.67576609190000003</c:v>
                </c:pt>
                <c:pt idx="1">
                  <c:v>0.5293629702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22-4CD1-8BB3-74646FEE5E73}"/>
            </c:ext>
          </c:extLst>
        </c:ser>
        <c:ser>
          <c:idx val="1"/>
          <c:order val="1"/>
          <c:tx>
            <c:v>Referencia train</c:v>
          </c:tx>
          <c:spPr>
            <a:solidFill>
              <a:srgbClr val="9CA7AF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>
                    <a:solidFill>
                      <a:srgbClr val="525D66"/>
                    </a:solidFill>
                    <a:latin typeface="Arial"/>
                    <a:ea typeface="Arial"/>
                    <a:cs typeface="Arial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Mismo trimestre</c:v>
                </c:pt>
                <c:pt idx="1">
                  <c:v>t−1 exacto</c:v>
                </c:pt>
              </c:strCache>
            </c:str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0.20391460829999999</c:v>
                </c:pt>
                <c:pt idx="1">
                  <c:v>0.20386315420000001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22-4CD1-8BB3-74646FEE5E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20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s-A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w="9525">
              <a:solidFill>
                <a:srgbClr val="D3DAE0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s-AR"/>
          </a:p>
        </c:txPr>
        <c:crossAx val="48650112"/>
        <c:crosses val="autoZero"/>
        <c:crossBetween val="between"/>
      </c:valAx>
      <c:spPr>
        <a:solidFill>
          <a:srgbClr val="F2F2F3"/>
        </a:solidFill>
      </c:spPr>
    </c:plotArea>
    <c:legend>
      <c:legendPos val="b"/>
      <c:overlay val="0"/>
      <c:txPr>
        <a:bodyPr anchorCtr="1"/>
        <a:lstStyle/>
        <a:p>
          <a:pPr>
            <a:defRPr sz="2025">
              <a:latin typeface="Arial"/>
              <a:ea typeface="Arial"/>
              <a:cs typeface="Arial"/>
            </a:defRPr>
          </a:pPr>
          <a:endParaRPr lang="es-AR"/>
        </a:p>
      </c:txPr>
    </c:legend>
    <c:plotVisOnly val="1"/>
    <c:dispBlanksAs val="zero"/>
    <c:showDLblsOverMax val="1"/>
  </c:chart>
  <c:spPr>
    <a:solidFill>
      <a:srgbClr val="F2F2F3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sugerido: 35 segundos.</a:t>
            </a:r>
          </a:p>
          <a:p>
            <a:r>
              <a:t>Presentar pregunta e hipótesis juntas antes de los datos. El alcance se limita a H1 y H3.</a:t>
            </a:r>
          </a:p>
          <a:p>
            <a:r>
              <a:t>Fuente: README.md; hipótesis TP1.</a:t>
            </a:r>
          </a:p>
          <a:p>
            <a:r>
              <a:t>Proyecto: DiploDatos. Resultados sintéticos y asociaciones sin identificación causal.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sugerido: 50 segundos.</a:t>
            </a:r>
          </a:p>
          <a:p>
            <a:r>
              <a:t>Corte fijo 2026 Q2 y muestra común completa. El resultado es superar 20% de mejora de productividad. Mostrar los cuatro cuartiles de adopción y de inversión, sin comparar muestras distintas. No extrapolar a causalidad.</a:t>
            </a:r>
          </a:p>
          <a:p>
            <a:r>
              <a:t>Fuente: eda_cuartiles.csv; data/raw/company_limpio.csv.</a:t>
            </a:r>
          </a:p>
          <a:p>
            <a:r>
              <a:t>Proyecto: DiploDatos. Resultados sintéticos y asociaciones sin identificación causal.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sugerido: 45 segundos.</a:t>
            </a:r>
          </a:p>
          <a:p>
            <a:r>
              <a:t>Dar el contexto mínimo del panel y la prevención de fuga. Separar qué se evalúa en empresa nueva y en futuro. Los targets no se imputan. Cada mediana y cada escala se aprende con train.</a:t>
            </a:r>
          </a:p>
          <a:p>
            <a:r>
              <a:t>Fuente: curacion_resumen.json; modelado.ipynb, preparación.</a:t>
            </a:r>
          </a:p>
          <a:p>
            <a:r>
              <a:t>Proyecto: DiploDatos. Resultados sintéticos y asociaciones sin identificación causal.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sugerido: 90 segundos.</a:t>
            </a:r>
          </a:p>
          <a:p>
            <a:r>
              <a:t>TWFE compara una empresa consigo misma y descuenta shocks comunes. Respuesta: cambio porcentual de productividad. Predictores identificados: log1p inversión, opcional adopción. Ingresos, industria y tamaño constantes quedan absorbidos. La muestra es idéntica para los dos modelos. Los errores son agrupados por empresa. No interpretar la diferencia como mediación causal demostrada.</a:t>
            </a:r>
          </a:p>
          <a:p>
            <a:r>
              <a:t>Fuente: h1_twfe.csv; h1_sensibilidad.csv.</a:t>
            </a:r>
          </a:p>
          <a:p>
            <a:r>
              <a:t>Proyecto: DiploDatos. Resultados sintéticos y asociaciones sin identificación causal.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sugerido: 45 segundos.</a:t>
            </a:r>
          </a:p>
          <a:p>
            <a:r>
              <a:t>Antes de mostrar métricas: respuesta cambio porcentual de productividad. Ridge regulariza pendientes; boosting combina árboles para curvas e interacciones. Ambos usan la misma información. Se elige por MAE de CV por empresa. R² de test no es el R² dentro de empresa de TWFE.</a:t>
            </a:r>
          </a:p>
          <a:p>
            <a:r>
              <a:t>Fuente: h1_prediccion.csv; h1_prediccion_cv.csv.</a:t>
            </a:r>
          </a:p>
          <a:p>
            <a:r>
              <a:t>Proyecto: DiploDatos. Resultados sintéticos y asociaciones sin identificación causal.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sugerido: 55 segundos.</a:t>
            </a:r>
          </a:p>
          <a:p>
            <a:r>
              <a:t>Definir las tres clases antes de hablar de logit y RF. Neutral es un empate exacto, no ausencia de cambios. Las clases alternativas se ejecutan aparte y sus F1 no son comparables directamente.</a:t>
            </a:r>
          </a:p>
          <a:p>
            <a:r>
              <a:t>Fuente: h3_neutral.csv; h3_componentes.csv; h3_etiquetas.csv.</a:t>
            </a:r>
          </a:p>
          <a:p>
            <a:r>
              <a:t>Proyecto: DiploDatos. Resultados sintéticos y asociaciones sin identificación causal.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sugerido: 60 segundos.</a:t>
            </a:r>
          </a:p>
          <a:p>
            <a:r>
              <a:t>Logit multinomial sobre tres clases, con neutral como referencia. Coeficientes de adopción y automatización por +10 puntos. Modelo para asociaciones con errores agrupados, no panel within. La tasa de creación se relaciona con adopción y la de desplazamiento con automatización, y su resta produce el saldo. No atribuir el resultado a casos de uso sin observarlos.</a:t>
            </a:r>
          </a:p>
          <a:p>
            <a:r>
              <a:t>Fuente: h3_contrastes.csv; h3_componentes.csv; h3_vif.csv; h3_colinealidad_performance.csv.</a:t>
            </a:r>
          </a:p>
          <a:p>
            <a:r>
              <a:t>Proyecto: DiploDatos. Resultados sintéticos y asociaciones sin identificación causal.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sugerido: 90 segundos.</a:t>
            </a:r>
          </a:p>
          <a:p>
            <a:r>
              <a:t>Presentar RF como combinación de árboles y logit como clasificación por probabilidades de las tres clases. Se fija macro-F1 antes de esta revisión, aunque test ya había sido consultado en el trabajo original. La selección usa CV por empresa. F1 empleo es secundaria y promedia creación y desplazamiento. Precisiones y recalls completos están en el notebook.</a:t>
            </a:r>
          </a:p>
          <a:p>
            <a:r>
              <a:t>Fuente: h3_modelos.csv; h3_modelos_cv.csv; h3_bootstrap_empresas.csv.</a:t>
            </a:r>
          </a:p>
          <a:p>
            <a:r>
              <a:t>Proyecto: DiploDatos. Resultados sintéticos y asociaciones sin identificación causal.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sugerido: 90 segundos.</a:t>
            </a:r>
          </a:p>
          <a:p>
            <a:r>
              <a:t>Entrenar 2023–24, seleccionar penalización en 2025 y test 2026, sin reajustar con test. La evaluación con X contemporánea no anticipa Y. Para anticipar usar X del trimestre exacto anterior. El join exige diferencia de un trimestre; si falta t−1 se excluye el par. Modelos Ridge H1 y logit H3. Esta muestra se reconstruye del crudo con reglas de dominio y difiere de la evaluación agrupada, sin búsqueda de bandas futuras.</a:t>
            </a:r>
          </a:p>
          <a:p>
            <a:r>
              <a:t>Fuente: validacion_temporal.csv; particiones_temporales.csv.</a:t>
            </a:r>
          </a:p>
          <a:p>
            <a:r>
              <a:t>Proyecto: DiploDatos. Resultados sintéticos y asociaciones sin identificación causal.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sugerido: 40 segundos.</a:t>
            </a:r>
          </a:p>
          <a:p>
            <a:r>
              <a:t>Sintetizar sin repetir historias causales ni presentar H2 como resuelta. La revisión histórica y el dataset sintético impiden validación externa o confirmatoria.</a:t>
            </a:r>
          </a:p>
          <a:p>
            <a:r>
              <a:t>Fuente: modelado.ipynb, tablas ejecutadas.</a:t>
            </a:r>
          </a:p>
          <a:p>
            <a:r>
              <a:t>Proyecto: DiploDatos. Resultados sintéticos y asociaciones sin identificación causal.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58A6DB5-EDA8-4E4D-98C7-51FACC199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886200"/>
            <a:ext cx="14630400" cy="14859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D534017-95D7-4FFF-88FC-10F4F95FE1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5657850"/>
            <a:ext cx="12801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565A777-4805-4051-819F-8B390D5FC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286250"/>
            <a:ext cx="14630400" cy="1714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17EC2BC-F79B-4529-8519-8C1C8F81B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49182FB-9FEF-4CF4-8FB5-A67D33BAE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162306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43DE3D7-661E-44D2-A986-E776EA235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D4250FF-7423-42BC-BFDF-88675C710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6EBFC80-5948-46AC-9D34-D3E235CD0BD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7155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D5AD6DA-8697-4C27-A0E5-6FDA6239D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6422F02-5F6D-4AFE-8D6C-5D1B99F56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A, productividad y empleo">
            <a:extLst>
              <a:ext uri="{FF2B5EF4-FFF2-40B4-BE49-F238E27FC236}">
                <a16:creationId xmlns:a16="http://schemas.microsoft.com/office/drawing/2014/main" id="{CDCB3AC9-1083-4110-A184-1AABDC840B22}"/>
              </a:ext>
            </a:extLst>
          </p:cNvPr>
          <p:cNvSpPr>
            <a:spLocks noGrp="1"/>
          </p:cNvSpPr>
          <p:nvPr/>
        </p:nvSpPr>
        <p:spPr>
          <a:xfrm>
            <a:off x="914400" y="704850"/>
            <a:ext cx="16459200" cy="1190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IA, productividad y empleo</a:t>
            </a:r>
          </a:p>
        </p:txBody>
      </p:sp>
      <p:sp>
        <p:nvSpPr>
          <p:cNvPr id="2" name="1/10">
            <a:extLst>
              <a:ext uri="{FF2B5EF4-FFF2-40B4-BE49-F238E27FC236}">
                <a16:creationId xmlns:a16="http://schemas.microsoft.com/office/drawing/2014/main" id="{83056929-ABC3-4A2F-BFBE-BF816E16DB37}"/>
              </a:ext>
            </a:extLst>
          </p:cNvPr>
          <p:cNvSpPr>
            <a:spLocks noGrp="1"/>
          </p:cNvSpPr>
          <p:nvPr/>
        </p:nvSpPr>
        <p:spPr>
          <a:xfrm>
            <a:off x="16573500" y="9467850"/>
            <a:ext cx="809625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1/10</a:t>
            </a:r>
          </a:p>
        </p:txBody>
      </p:sp>
      <p:sp>
        <p:nvSpPr>
          <p:cNvPr id="3" name="¿Cómo se relaciona el uso de IA con los resultados de las em">
            <a:extLst>
              <a:ext uri="{FF2B5EF4-FFF2-40B4-BE49-F238E27FC236}">
                <a16:creationId xmlns:a16="http://schemas.microsoft.com/office/drawing/2014/main" id="{2542F447-C43C-44B1-9595-97B3867254C8}"/>
              </a:ext>
            </a:extLst>
          </p:cNvPr>
          <p:cNvSpPr>
            <a:spLocks noGrp="1"/>
          </p:cNvSpPr>
          <p:nvPr/>
        </p:nvSpPr>
        <p:spPr>
          <a:xfrm>
            <a:off x="914400" y="2190750"/>
            <a:ext cx="16459200" cy="1476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0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0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¿Cómo se relaciona el uso de IA con los resultados de las empresas?</a:t>
            </a:r>
          </a:p>
        </p:txBody>
      </p:sp>
      <p:sp>
        <p:nvSpPr>
          <p:cNvPr id="4" name="H1 · Inversión por empleado y cambio de productividad">
            <a:extLst>
              <a:ext uri="{FF2B5EF4-FFF2-40B4-BE49-F238E27FC236}">
                <a16:creationId xmlns:a16="http://schemas.microsoft.com/office/drawing/2014/main" id="{3913C128-5489-499C-BF94-63856371AF36}"/>
              </a:ext>
            </a:extLst>
          </p:cNvPr>
          <p:cNvSpPr>
            <a:spLocks noGrp="1"/>
          </p:cNvSpPr>
          <p:nvPr/>
        </p:nvSpPr>
        <p:spPr>
          <a:xfrm>
            <a:off x="914400" y="4238625"/>
            <a:ext cx="164592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H1 · Inversión por empleado y cambio de productividad</a:t>
            </a:r>
          </a:p>
        </p:txBody>
      </p:sp>
      <p:sp>
        <p:nvSpPr>
          <p:cNvPr id="5" name="H3 · Adopción, automatización y balance de puestos">
            <a:extLst>
              <a:ext uri="{FF2B5EF4-FFF2-40B4-BE49-F238E27FC236}">
                <a16:creationId xmlns:a16="http://schemas.microsoft.com/office/drawing/2014/main" id="{B8E78924-9D40-41AB-B074-CE1B3FED4CC2}"/>
              </a:ext>
            </a:extLst>
          </p:cNvPr>
          <p:cNvSpPr>
            <a:spLocks noGrp="1"/>
          </p:cNvSpPr>
          <p:nvPr/>
        </p:nvSpPr>
        <p:spPr>
          <a:xfrm>
            <a:off x="914400" y="5476875"/>
            <a:ext cx="164592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H3 · Adopción, automatización y balance de puestos</a:t>
            </a:r>
          </a:p>
        </p:txBody>
      </p:sp>
      <p:sp>
        <p:nvSpPr>
          <p:cNvPr id="6" name="Eric Sigwald · Gonzalo Marengo · Sebastian Rigo">
            <a:extLst>
              <a:ext uri="{FF2B5EF4-FFF2-40B4-BE49-F238E27FC236}">
                <a16:creationId xmlns:a16="http://schemas.microsoft.com/office/drawing/2014/main" id="{45CB8D92-DB57-4E57-A282-BA766F1A1803}"/>
              </a:ext>
            </a:extLst>
          </p:cNvPr>
          <p:cNvSpPr>
            <a:spLocks noGrp="1"/>
          </p:cNvSpPr>
          <p:nvPr/>
        </p:nvSpPr>
        <p:spPr>
          <a:xfrm>
            <a:off x="914400" y="7620000"/>
            <a:ext cx="164592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7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D1F20"/>
                </a:solidFill>
                <a:latin typeface="Arial"/>
                <a:ea typeface="Arial"/>
                <a:cs typeface="Arial"/>
              </a:rPr>
              <a:t>Eric Sigwald · Gonzalo Marengo · Sebastian Rigo</a:t>
            </a:r>
          </a:p>
        </p:txBody>
      </p:sp>
      <p:sp>
        <p:nvSpPr>
          <p:cNvPr id="7" name="Panel sintético. Asociaciones contemporáneas y evaluación de">
            <a:extLst>
              <a:ext uri="{FF2B5EF4-FFF2-40B4-BE49-F238E27FC236}">
                <a16:creationId xmlns:a16="http://schemas.microsoft.com/office/drawing/2014/main" id="{0117C11A-0D1C-44AF-9CB8-2AF1D89A978B}"/>
              </a:ext>
            </a:extLst>
          </p:cNvPr>
          <p:cNvSpPr>
            <a:spLocks noGrp="1"/>
          </p:cNvSpPr>
          <p:nvPr/>
        </p:nvSpPr>
        <p:spPr>
          <a:xfrm>
            <a:off x="914400" y="8734425"/>
            <a:ext cx="155257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Panel sintético. Asociaciones contemporáneas y evaluación de anticipación a un trimestre.</a:t>
            </a:r>
          </a:p>
        </p:txBody>
      </p:sp>
    </p:spTree>
    <p:extLst>
      <p:ext uri="{BB962C8B-B14F-4D97-AF65-F5344CB8AC3E}">
        <p14:creationId xmlns:p14="http://schemas.microsoft.com/office/powerpoint/2010/main" val="1597704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oductividad: adopción e inversión en contexto">
            <a:extLst>
              <a:ext uri="{FF2B5EF4-FFF2-40B4-BE49-F238E27FC236}">
                <a16:creationId xmlns:a16="http://schemas.microsoft.com/office/drawing/2014/main" id="{AE4E8F05-18B0-4DA5-B50B-81895EA27D61}"/>
              </a:ext>
            </a:extLst>
          </p:cNvPr>
          <p:cNvSpPr>
            <a:spLocks noGrp="1"/>
          </p:cNvSpPr>
          <p:nvPr/>
        </p:nvSpPr>
        <p:spPr>
          <a:xfrm>
            <a:off x="914400" y="704850"/>
            <a:ext cx="16459200" cy="1190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Productividad: adopción e inversión en contexto</a:t>
            </a:r>
          </a:p>
        </p:txBody>
      </p:sp>
      <p:sp>
        <p:nvSpPr>
          <p:cNvPr id="2" name="2/10">
            <a:extLst>
              <a:ext uri="{FF2B5EF4-FFF2-40B4-BE49-F238E27FC236}">
                <a16:creationId xmlns:a16="http://schemas.microsoft.com/office/drawing/2014/main" id="{02EBE8F5-9EF7-45B1-B7E0-BDD7EF73F2C5}"/>
              </a:ext>
            </a:extLst>
          </p:cNvPr>
          <p:cNvSpPr>
            <a:spLocks noGrp="1"/>
          </p:cNvSpPr>
          <p:nvPr/>
        </p:nvSpPr>
        <p:spPr>
          <a:xfrm>
            <a:off x="16573500" y="9467850"/>
            <a:ext cx="809625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2/10</a:t>
            </a:r>
          </a:p>
        </p:txBody>
      </p:sp>
      <p:sp>
        <p:nvSpPr>
          <p:cNvPr id="3" name="150.025 respuestas · 10.025 empresas · 16 trimestres">
            <a:extLst>
              <a:ext uri="{FF2B5EF4-FFF2-40B4-BE49-F238E27FC236}">
                <a16:creationId xmlns:a16="http://schemas.microsoft.com/office/drawing/2014/main" id="{554E1664-2615-48D3-B829-8638FCEDB147}"/>
              </a:ext>
            </a:extLst>
          </p:cNvPr>
          <p:cNvSpPr>
            <a:spLocks noGrp="1"/>
          </p:cNvSpPr>
          <p:nvPr/>
        </p:nvSpPr>
        <p:spPr>
          <a:xfrm>
            <a:off x="914400" y="2124075"/>
            <a:ext cx="164592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D1F20"/>
                </a:solidFill>
                <a:latin typeface="Arial"/>
                <a:ea typeface="Arial"/>
                <a:cs typeface="Arial"/>
              </a:rPr>
              <a:t>150.025 respuestas · 10.025 empresas · 16 trimestres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A9D860CB-C1DF-40F5-B476-E5960495E156}"/>
              </a:ext>
            </a:extLst>
          </p:cNvPr>
          <p:cNvGraphicFramePr/>
          <p:nvPr/>
        </p:nvGraphicFramePr>
        <p:xfrm>
          <a:off x="914400" y="3095625"/>
          <a:ext cx="16459200" cy="523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Porcentaje de empresas con mejora de productividad &gt;20%. Cor">
            <a:extLst>
              <a:ext uri="{FF2B5EF4-FFF2-40B4-BE49-F238E27FC236}">
                <a16:creationId xmlns:a16="http://schemas.microsoft.com/office/drawing/2014/main" id="{3E37A937-C958-4C54-9216-31A5E71B58D9}"/>
              </a:ext>
            </a:extLst>
          </p:cNvPr>
          <p:cNvSpPr>
            <a:spLocks noGrp="1"/>
          </p:cNvSpPr>
          <p:nvPr/>
        </p:nvSpPr>
        <p:spPr>
          <a:xfrm>
            <a:off x="914400" y="8734425"/>
            <a:ext cx="155257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Porcentaje de empresas con mejora de productividad &gt;20%. Corte 2026 Q2, n=9.231, misma muestra.</a:t>
            </a:r>
          </a:p>
        </p:txBody>
      </p:sp>
    </p:spTree>
    <p:extLst>
      <p:ext uri="{BB962C8B-B14F-4D97-AF65-F5344CB8AC3E}">
        <p14:creationId xmlns:p14="http://schemas.microsoft.com/office/powerpoint/2010/main" val="1299618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ración y evaluación según la pregunta">
            <a:extLst>
              <a:ext uri="{FF2B5EF4-FFF2-40B4-BE49-F238E27FC236}">
                <a16:creationId xmlns:a16="http://schemas.microsoft.com/office/drawing/2014/main" id="{EDFDDBC9-B0D6-4DFF-AD4E-B706D10C36C9}"/>
              </a:ext>
            </a:extLst>
          </p:cNvPr>
          <p:cNvSpPr>
            <a:spLocks noGrp="1"/>
          </p:cNvSpPr>
          <p:nvPr/>
        </p:nvSpPr>
        <p:spPr>
          <a:xfrm>
            <a:off x="914400" y="704850"/>
            <a:ext cx="16459200" cy="1190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Curación y evaluación según la pregunta</a:t>
            </a:r>
          </a:p>
        </p:txBody>
      </p:sp>
      <p:sp>
        <p:nvSpPr>
          <p:cNvPr id="2" name="3/10">
            <a:extLst>
              <a:ext uri="{FF2B5EF4-FFF2-40B4-BE49-F238E27FC236}">
                <a16:creationId xmlns:a16="http://schemas.microsoft.com/office/drawing/2014/main" id="{4F88EC1F-32C9-4C8D-AFDE-1F51C0EA927D}"/>
              </a:ext>
            </a:extLst>
          </p:cNvPr>
          <p:cNvSpPr>
            <a:spLocks noGrp="1"/>
          </p:cNvSpPr>
          <p:nvPr/>
        </p:nvSpPr>
        <p:spPr>
          <a:xfrm>
            <a:off x="16573500" y="9467850"/>
            <a:ext cx="809625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3/10</a:t>
            </a:r>
          </a:p>
        </p:txBody>
      </p:sp>
      <p:sp>
        <p:nvSpPr>
          <p:cNvPr id="3" name="2.250 datos de industria y 2.250 de tamaño recuperados de ot">
            <a:extLst>
              <a:ext uri="{FF2B5EF4-FFF2-40B4-BE49-F238E27FC236}">
                <a16:creationId xmlns:a16="http://schemas.microsoft.com/office/drawing/2014/main" id="{C5E88929-0E9D-48C1-833F-B569DCAF7D87}"/>
              </a:ext>
            </a:extLst>
          </p:cNvPr>
          <p:cNvSpPr>
            <a:spLocks noGrp="1"/>
          </p:cNvSpPr>
          <p:nvPr/>
        </p:nvSpPr>
        <p:spPr>
          <a:xfrm>
            <a:off x="914400" y="2190750"/>
            <a:ext cx="164592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2.250 datos de industria y 2.250 de tamaño recuperados de otras respuestas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74F9D88-49EB-4088-9FB1-0FDE6D7DB621}"/>
              </a:ext>
            </a:extLst>
          </p:cNvPr>
          <p:cNvGraphicFramePr/>
          <p:nvPr/>
        </p:nvGraphicFramePr>
        <p:xfrm>
          <a:off x="914400" y="3619500"/>
          <a:ext cx="16459200" cy="4000500"/>
        </p:xfrm>
        <a:graphic>
          <a:graphicData uri="http://schemas.openxmlformats.org/drawingml/2006/table">
            <a:tbl>
              <a:tblPr/>
              <a:tblGrid>
                <a:gridCol w="476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3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0125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Pregunta de evaluación</a:t>
                      </a:r>
                    </a:p>
                  </a:txBody>
                  <a:tcPr>
                    <a:lnL w="19050">
                      <a:solidFill>
                        <a:srgbClr val="F2F2F3"/>
                      </a:solidFill>
                      <a:prstDash val="soli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>
                      <a:solidFill>
                        <a:srgbClr val="F2F2F3"/>
                      </a:solidFill>
                      <a:prstDash val="soli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5980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Partición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>
                      <a:solidFill>
                        <a:srgbClr val="F2F2F3"/>
                      </a:solidFill>
                      <a:prstDash val="soli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5980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Información utilizada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>
                      <a:solidFill>
                        <a:srgbClr val="F2F2F3"/>
                      </a:solidFill>
                      <a:prstDash val="soli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598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Empresa nueva</a:t>
                      </a:r>
                    </a:p>
                  </a:txBody>
                  <a:tcPr>
                    <a:lnL w="19050">
                      <a:solidFill>
                        <a:srgbClr val="F2F2F3"/>
                      </a:solidFill>
                      <a:prstDash val="soli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80/20 por empresa + GroupKFold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Variables del mismo trimestre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Período posterior</a:t>
                      </a:r>
                    </a:p>
                  </a:txBody>
                  <a:tcPr>
                    <a:lnL w="19050">
                      <a:solidFill>
                        <a:srgbClr val="F2F2F3"/>
                      </a:solidFill>
                      <a:prstDash val="soli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E6EB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Train 2023–24 · validar 2025 · test 2026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E6EB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X del trimestre o X de t−1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E6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Respuestas faltantes</a:t>
                      </a:r>
                    </a:p>
                  </a:txBody>
                  <a:tcPr>
                    <a:lnL w="19050">
                      <a:solidFill>
                        <a:srgbClr val="F2F2F3"/>
                      </a:solidFill>
                      <a:prstDash val="soli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Excluir del modelo correspondiente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No fabricar productividad o empleo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Medianas, categorías y escalas se aprenden dentro de train. ">
            <a:extLst>
              <a:ext uri="{FF2B5EF4-FFF2-40B4-BE49-F238E27FC236}">
                <a16:creationId xmlns:a16="http://schemas.microsoft.com/office/drawing/2014/main" id="{A698D26B-6BD1-4827-9B08-A50A2A9ECAC3}"/>
              </a:ext>
            </a:extLst>
          </p:cNvPr>
          <p:cNvSpPr>
            <a:spLocks noGrp="1"/>
          </p:cNvSpPr>
          <p:nvPr/>
        </p:nvSpPr>
        <p:spPr>
          <a:xfrm>
            <a:off x="914400" y="8734425"/>
            <a:ext cx="155257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Medianas, categorías y escalas se aprenden dentro de train. La evaluación temporal recupera categorías solo hacia adelante.</a:t>
            </a:r>
          </a:p>
        </p:txBody>
      </p:sp>
    </p:spTree>
    <p:extLst>
      <p:ext uri="{BB962C8B-B14F-4D97-AF65-F5344CB8AC3E}">
        <p14:creationId xmlns:p14="http://schemas.microsoft.com/office/powerpoint/2010/main" val="1349713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1: inversión con y sin controlar adopción">
            <a:extLst>
              <a:ext uri="{FF2B5EF4-FFF2-40B4-BE49-F238E27FC236}">
                <a16:creationId xmlns:a16="http://schemas.microsoft.com/office/drawing/2014/main" id="{17C97663-66DC-483A-A7C4-A83687DAB70B}"/>
              </a:ext>
            </a:extLst>
          </p:cNvPr>
          <p:cNvSpPr>
            <a:spLocks noGrp="1"/>
          </p:cNvSpPr>
          <p:nvPr/>
        </p:nvSpPr>
        <p:spPr>
          <a:xfrm>
            <a:off x="914400" y="704850"/>
            <a:ext cx="16459200" cy="1190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H1: inversión con y sin controlar adopción</a:t>
            </a:r>
          </a:p>
        </p:txBody>
      </p:sp>
      <p:sp>
        <p:nvSpPr>
          <p:cNvPr id="2" name="4/10">
            <a:extLst>
              <a:ext uri="{FF2B5EF4-FFF2-40B4-BE49-F238E27FC236}">
                <a16:creationId xmlns:a16="http://schemas.microsoft.com/office/drawing/2014/main" id="{E893B56C-3A96-468A-A9E4-27D35EA02B4A}"/>
              </a:ext>
            </a:extLst>
          </p:cNvPr>
          <p:cNvSpPr>
            <a:spLocks noGrp="1"/>
          </p:cNvSpPr>
          <p:nvPr/>
        </p:nvSpPr>
        <p:spPr>
          <a:xfrm>
            <a:off x="16573500" y="9467850"/>
            <a:ext cx="809625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4/10</a:t>
            </a:r>
          </a:p>
        </p:txBody>
      </p:sp>
      <p:sp>
        <p:nvSpPr>
          <p:cNvPr id="3" name="TWFE explica el cambio de productividad comparando cada empr">
            <a:extLst>
              <a:ext uri="{FF2B5EF4-FFF2-40B4-BE49-F238E27FC236}">
                <a16:creationId xmlns:a16="http://schemas.microsoft.com/office/drawing/2014/main" id="{EF651599-988E-4E5A-ABE9-4F5741DBA344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164592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D1F20"/>
                </a:solidFill>
                <a:latin typeface="Arial"/>
                <a:ea typeface="Arial"/>
                <a:cs typeface="Arial"/>
              </a:rPr>
              <a:t>TWFE explica el cambio de productividad comparando cada empresa consigo misma</a:t>
            </a:r>
          </a:p>
        </p:txBody>
      </p:sp>
      <p:sp>
        <p:nvSpPr>
          <p:cNvPr id="4" name="Cambios por 1 desvío within (pp)">
            <a:extLst>
              <a:ext uri="{FF2B5EF4-FFF2-40B4-BE49-F238E27FC236}">
                <a16:creationId xmlns:a16="http://schemas.microsoft.com/office/drawing/2014/main" id="{90AB014D-0E4D-4464-B07D-CF99F91632ED}"/>
              </a:ext>
            </a:extLst>
          </p:cNvPr>
          <p:cNvSpPr>
            <a:spLocks noGrp="1"/>
          </p:cNvSpPr>
          <p:nvPr/>
        </p:nvSpPr>
        <p:spPr>
          <a:xfrm>
            <a:off x="914400" y="32861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Cambios por 1 desvío within (pp)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F7A24544-CD54-4164-8CC1-5A227037F03F}"/>
              </a:ext>
            </a:extLst>
          </p:cNvPr>
          <p:cNvGraphicFramePr/>
          <p:nvPr/>
        </p:nvGraphicFramePr>
        <p:xfrm>
          <a:off x="914400" y="4048125"/>
          <a:ext cx="762000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Pendiente de inversión y observaciones influyentes">
            <a:extLst>
              <a:ext uri="{FF2B5EF4-FFF2-40B4-BE49-F238E27FC236}">
                <a16:creationId xmlns:a16="http://schemas.microsoft.com/office/drawing/2014/main" id="{AD8A9AAB-098D-41F4-9E90-39D25226CA6E}"/>
              </a:ext>
            </a:extLst>
          </p:cNvPr>
          <p:cNvSpPr>
            <a:spLocks noGrp="1"/>
          </p:cNvSpPr>
          <p:nvPr/>
        </p:nvSpPr>
        <p:spPr>
          <a:xfrm>
            <a:off x="9477375" y="3286125"/>
            <a:ext cx="7896225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Pendiente de inversión y observaciones influyentes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5B922773-B774-4F81-8686-AD261B640912}"/>
              </a:ext>
            </a:extLst>
          </p:cNvPr>
          <p:cNvGraphicFramePr/>
          <p:nvPr/>
        </p:nvGraphicFramePr>
        <p:xfrm>
          <a:off x="9477375" y="4048125"/>
          <a:ext cx="7896225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ensibilidad: β de inversión pasa de 0,294 a 1,603 al retira">
            <a:extLst>
              <a:ext uri="{FF2B5EF4-FFF2-40B4-BE49-F238E27FC236}">
                <a16:creationId xmlns:a16="http://schemas.microsoft.com/office/drawing/2014/main" id="{3D245F02-A6C2-44D4-BE91-D71AC6EB84D1}"/>
              </a:ext>
            </a:extLst>
          </p:cNvPr>
          <p:cNvSpPr>
            <a:spLocks noGrp="1"/>
          </p:cNvSpPr>
          <p:nvPr/>
        </p:nvSpPr>
        <p:spPr>
          <a:xfrm>
            <a:off x="914400" y="7620000"/>
            <a:ext cx="16459200" cy="1095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Sensibilidad: β de inversión pasa de 0,294 a 1,603 al retirar leverage alto</a:t>
            </a:r>
          </a:p>
        </p:txBody>
      </p:sp>
      <p:sp>
        <p:nvSpPr>
          <p:cNvPr id="9" name="Misma muestra base: n=144.743. Una asociación positiva con m">
            <a:extLst>
              <a:ext uri="{FF2B5EF4-FFF2-40B4-BE49-F238E27FC236}">
                <a16:creationId xmlns:a16="http://schemas.microsoft.com/office/drawing/2014/main" id="{50C5E03C-7E58-4C91-AF87-1349EF513B11}"/>
              </a:ext>
            </a:extLst>
          </p:cNvPr>
          <p:cNvSpPr>
            <a:spLocks noGrp="1"/>
          </p:cNvSpPr>
          <p:nvPr/>
        </p:nvSpPr>
        <p:spPr>
          <a:xfrm>
            <a:off x="914400" y="8905875"/>
            <a:ext cx="155257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Misma muestra base: n=144.743. Una asociación positiva con magnitud sensible a observaciones influyentes.</a:t>
            </a:r>
          </a:p>
        </p:txBody>
      </p:sp>
    </p:spTree>
    <p:extLst>
      <p:ext uri="{BB962C8B-B14F-4D97-AF65-F5344CB8AC3E}">
        <p14:creationId xmlns:p14="http://schemas.microsoft.com/office/powerpoint/2010/main" val="1692741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1: la complejidad mejora poco el error">
            <a:extLst>
              <a:ext uri="{FF2B5EF4-FFF2-40B4-BE49-F238E27FC236}">
                <a16:creationId xmlns:a16="http://schemas.microsoft.com/office/drawing/2014/main" id="{009E785C-DA87-4CEB-AF37-DE877423031D}"/>
              </a:ext>
            </a:extLst>
          </p:cNvPr>
          <p:cNvSpPr>
            <a:spLocks noGrp="1"/>
          </p:cNvSpPr>
          <p:nvPr/>
        </p:nvSpPr>
        <p:spPr>
          <a:xfrm>
            <a:off x="914400" y="704850"/>
            <a:ext cx="16459200" cy="1190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H1: la complejidad mejora poco el error</a:t>
            </a:r>
          </a:p>
        </p:txBody>
      </p:sp>
      <p:sp>
        <p:nvSpPr>
          <p:cNvPr id="2" name="5/10">
            <a:extLst>
              <a:ext uri="{FF2B5EF4-FFF2-40B4-BE49-F238E27FC236}">
                <a16:creationId xmlns:a16="http://schemas.microsoft.com/office/drawing/2014/main" id="{F5FD0DE6-65D9-4AB6-AE55-3D9B03026130}"/>
              </a:ext>
            </a:extLst>
          </p:cNvPr>
          <p:cNvSpPr>
            <a:spLocks noGrp="1"/>
          </p:cNvSpPr>
          <p:nvPr/>
        </p:nvSpPr>
        <p:spPr>
          <a:xfrm>
            <a:off x="16573500" y="9467850"/>
            <a:ext cx="809625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5/10</a:t>
            </a:r>
          </a:p>
        </p:txBody>
      </p:sp>
      <p:sp>
        <p:nvSpPr>
          <p:cNvPr id="3" name="Ridge regulariza pendientes. Boosting combina árboles. Ambos">
            <a:extLst>
              <a:ext uri="{FF2B5EF4-FFF2-40B4-BE49-F238E27FC236}">
                <a16:creationId xmlns:a16="http://schemas.microsoft.com/office/drawing/2014/main" id="{116AD984-7C51-45A5-BA96-20AD6D93C828}"/>
              </a:ext>
            </a:extLst>
          </p:cNvPr>
          <p:cNvSpPr>
            <a:spLocks noGrp="1"/>
          </p:cNvSpPr>
          <p:nvPr/>
        </p:nvSpPr>
        <p:spPr>
          <a:xfrm>
            <a:off x="914400" y="2143125"/>
            <a:ext cx="16459200" cy="1238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D1F20"/>
                </a:solidFill>
                <a:latin typeface="Arial"/>
                <a:ea typeface="Arial"/>
                <a:cs typeface="Arial"/>
              </a:rPr>
              <a:t>Ridge regulariza pendientes. Boosting combina árboles. Ambos estiman productividad con datos del mismo trimestre.</a:t>
            </a:r>
          </a:p>
        </p:txBody>
      </p:sp>
      <p:sp>
        <p:nvSpPr>
          <p:cNvPr id="4" name="MAE de test, en puntos de productividad">
            <a:extLst>
              <a:ext uri="{FF2B5EF4-FFF2-40B4-BE49-F238E27FC236}">
                <a16:creationId xmlns:a16="http://schemas.microsoft.com/office/drawing/2014/main" id="{C79C7F91-8C0F-4E4A-8C42-4D3294E6443F}"/>
              </a:ext>
            </a:extLst>
          </p:cNvPr>
          <p:cNvSpPr>
            <a:spLocks noGrp="1"/>
          </p:cNvSpPr>
          <p:nvPr/>
        </p:nvSpPr>
        <p:spPr>
          <a:xfrm>
            <a:off x="914400" y="3476625"/>
            <a:ext cx="100012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MAE de test, en puntos de productividad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A5CAC098-66EC-43FB-9185-C35AEF7140EC}"/>
              </a:ext>
            </a:extLst>
          </p:cNvPr>
          <p:cNvGraphicFramePr/>
          <p:nvPr/>
        </p:nvGraphicFramePr>
        <p:xfrm>
          <a:off x="914400" y="4238625"/>
          <a:ext cx="1000125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² en test">
            <a:extLst>
              <a:ext uri="{FF2B5EF4-FFF2-40B4-BE49-F238E27FC236}">
                <a16:creationId xmlns:a16="http://schemas.microsoft.com/office/drawing/2014/main" id="{80DDF33E-A92F-4791-AABE-4E08470E4A0A}"/>
              </a:ext>
            </a:extLst>
          </p:cNvPr>
          <p:cNvSpPr>
            <a:spLocks noGrp="1"/>
          </p:cNvSpPr>
          <p:nvPr/>
        </p:nvSpPr>
        <p:spPr>
          <a:xfrm>
            <a:off x="11715750" y="3905250"/>
            <a:ext cx="53340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R² en test</a:t>
            </a:r>
          </a:p>
        </p:txBody>
      </p:sp>
      <p:sp>
        <p:nvSpPr>
          <p:cNvPr id="7" name="Ridge: 0,428&#10;Boosting: 0,435">
            <a:extLst>
              <a:ext uri="{FF2B5EF4-FFF2-40B4-BE49-F238E27FC236}">
                <a16:creationId xmlns:a16="http://schemas.microsoft.com/office/drawing/2014/main" id="{D02B8A71-8BF9-4D4A-B95E-D361274F3E30}"/>
              </a:ext>
            </a:extLst>
          </p:cNvPr>
          <p:cNvSpPr>
            <a:spLocks noGrp="1"/>
          </p:cNvSpPr>
          <p:nvPr/>
        </p:nvSpPr>
        <p:spPr>
          <a:xfrm>
            <a:off x="11715750" y="5048250"/>
            <a:ext cx="5334000" cy="1619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D1F20"/>
                </a:solidFill>
                <a:latin typeface="Arial"/>
                <a:ea typeface="Arial"/>
                <a:cs typeface="Arial"/>
              </a:rPr>
              <a:t>Ridge: 0,428</a:t>
            </a:r>
          </a:p>
          <a:p>
            <a:pPr>
              <a:defRPr sz="33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D1F20"/>
                </a:solidFill>
                <a:latin typeface="Arial"/>
                <a:ea typeface="Arial"/>
                <a:cs typeface="Arial"/>
              </a:rPr>
              <a:t>Boosting: 0,435</a:t>
            </a:r>
          </a:p>
        </p:txBody>
      </p:sp>
      <p:sp>
        <p:nvSpPr>
          <p:cNvPr id="8" name="Las diferencias son pequeñas en estas configuraciones">
            <a:extLst>
              <a:ext uri="{FF2B5EF4-FFF2-40B4-BE49-F238E27FC236}">
                <a16:creationId xmlns:a16="http://schemas.microsoft.com/office/drawing/2014/main" id="{475DAF18-1F44-4E6D-BA1C-7E39D1A9EB5E}"/>
              </a:ext>
            </a:extLst>
          </p:cNvPr>
          <p:cNvSpPr>
            <a:spLocks noGrp="1"/>
          </p:cNvSpPr>
          <p:nvPr/>
        </p:nvSpPr>
        <p:spPr>
          <a:xfrm>
            <a:off x="11715750" y="7096125"/>
            <a:ext cx="5334000" cy="1238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F20"/>
                </a:solidFill>
                <a:latin typeface="Arial"/>
                <a:ea typeface="Arial"/>
                <a:cs typeface="Arial"/>
              </a:rPr>
              <a:t>Las diferencias son pequeñas en estas configuraciones</a:t>
            </a:r>
          </a:p>
        </p:txBody>
      </p:sp>
      <p:sp>
        <p:nvSpPr>
          <p:cNvPr id="9" name="Selección por MAE de validación agrupada. El desempeño mide ">
            <a:extLst>
              <a:ext uri="{FF2B5EF4-FFF2-40B4-BE49-F238E27FC236}">
                <a16:creationId xmlns:a16="http://schemas.microsoft.com/office/drawing/2014/main" id="{49B72522-F91D-4942-A4B0-FB8CD3FA7F85}"/>
              </a:ext>
            </a:extLst>
          </p:cNvPr>
          <p:cNvSpPr>
            <a:spLocks noGrp="1"/>
          </p:cNvSpPr>
          <p:nvPr/>
        </p:nvSpPr>
        <p:spPr>
          <a:xfrm>
            <a:off x="914400" y="8734425"/>
            <a:ext cx="155257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Selección por MAE de validación agrupada. El desempeño mide estimación contemporánea en empresas nuevas.</a:t>
            </a:r>
          </a:p>
        </p:txBody>
      </p:sp>
    </p:spTree>
    <p:extLst>
      <p:ext uri="{BB962C8B-B14F-4D97-AF65-F5344CB8AC3E}">
        <p14:creationId xmlns:p14="http://schemas.microsoft.com/office/powerpoint/2010/main" val="285329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3: qué significa neutral">
            <a:extLst>
              <a:ext uri="{FF2B5EF4-FFF2-40B4-BE49-F238E27FC236}">
                <a16:creationId xmlns:a16="http://schemas.microsoft.com/office/drawing/2014/main" id="{7FC8DDC4-F892-47A7-85A8-D99817B81C08}"/>
              </a:ext>
            </a:extLst>
          </p:cNvPr>
          <p:cNvSpPr>
            <a:spLocks noGrp="1"/>
          </p:cNvSpPr>
          <p:nvPr/>
        </p:nvSpPr>
        <p:spPr>
          <a:xfrm>
            <a:off x="914400" y="704850"/>
            <a:ext cx="16459200" cy="1190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H3: qué significa neutral</a:t>
            </a:r>
          </a:p>
        </p:txBody>
      </p:sp>
      <p:sp>
        <p:nvSpPr>
          <p:cNvPr id="2" name="6/10">
            <a:extLst>
              <a:ext uri="{FF2B5EF4-FFF2-40B4-BE49-F238E27FC236}">
                <a16:creationId xmlns:a16="http://schemas.microsoft.com/office/drawing/2014/main" id="{A764E561-0A81-46F5-A3B2-287396E1ECCE}"/>
              </a:ext>
            </a:extLst>
          </p:cNvPr>
          <p:cNvSpPr>
            <a:spLocks noGrp="1"/>
          </p:cNvSpPr>
          <p:nvPr/>
        </p:nvSpPr>
        <p:spPr>
          <a:xfrm>
            <a:off x="16573500" y="9467850"/>
            <a:ext cx="809625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6/10</a:t>
            </a:r>
          </a:p>
        </p:txBody>
      </p:sp>
      <p:sp>
        <p:nvSpPr>
          <p:cNvPr id="3" name="Creación: creados &gt; desplazados. Desplazamiento: creados &lt; d">
            <a:extLst>
              <a:ext uri="{FF2B5EF4-FFF2-40B4-BE49-F238E27FC236}">
                <a16:creationId xmlns:a16="http://schemas.microsoft.com/office/drawing/2014/main" id="{7D0B5C06-CB40-40A8-A008-BF563B18AD78}"/>
              </a:ext>
            </a:extLst>
          </p:cNvPr>
          <p:cNvSpPr>
            <a:spLocks noGrp="1"/>
          </p:cNvSpPr>
          <p:nvPr/>
        </p:nvSpPr>
        <p:spPr>
          <a:xfrm>
            <a:off x="914400" y="2143125"/>
            <a:ext cx="16459200" cy="1381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30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30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30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30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30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30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30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30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30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D1F20"/>
                </a:solidFill>
                <a:latin typeface="Arial"/>
                <a:ea typeface="Arial"/>
                <a:cs typeface="Arial"/>
              </a:rPr>
              <a:t>Creación: creados &gt; desplazados. Desplazamiento: creados &lt; desplazados. Neutral: empate exacto.</a:t>
            </a:r>
          </a:p>
        </p:txBody>
      </p:sp>
      <p:sp>
        <p:nvSpPr>
          <p:cNvPr id="4" name="Frecuencia de neutral según dotación">
            <a:extLst>
              <a:ext uri="{FF2B5EF4-FFF2-40B4-BE49-F238E27FC236}">
                <a16:creationId xmlns:a16="http://schemas.microsoft.com/office/drawing/2014/main" id="{DC87BE1A-6B44-46E1-9CED-710D8D3AA9F8}"/>
              </a:ext>
            </a:extLst>
          </p:cNvPr>
          <p:cNvSpPr>
            <a:spLocks noGrp="1"/>
          </p:cNvSpPr>
          <p:nvPr/>
        </p:nvSpPr>
        <p:spPr>
          <a:xfrm>
            <a:off x="914400" y="3714750"/>
            <a:ext cx="103822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Frecuencia de neutral según dotación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AE8230C8-9FBF-4188-A04D-94EFCDF41E61}"/>
              </a:ext>
            </a:extLst>
          </p:cNvPr>
          <p:cNvGraphicFramePr/>
          <p:nvPr/>
        </p:nvGraphicFramePr>
        <p:xfrm>
          <a:off x="914400" y="4524375"/>
          <a:ext cx="1038225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Un saldo cero puede incluir creación y desplazamiento a la v">
            <a:extLst>
              <a:ext uri="{FF2B5EF4-FFF2-40B4-BE49-F238E27FC236}">
                <a16:creationId xmlns:a16="http://schemas.microsoft.com/office/drawing/2014/main" id="{340E8438-59C0-4D28-9377-9EC073965C38}"/>
              </a:ext>
            </a:extLst>
          </p:cNvPr>
          <p:cNvSpPr>
            <a:spLocks noGrp="1"/>
          </p:cNvSpPr>
          <p:nvPr/>
        </p:nvSpPr>
        <p:spPr>
          <a:xfrm>
            <a:off x="12192000" y="4476750"/>
            <a:ext cx="4857750" cy="2000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15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Un saldo cero puede incluir creación y desplazamiento a la vez</a:t>
            </a:r>
          </a:p>
        </p:txBody>
      </p:sp>
      <p:sp>
        <p:nvSpPr>
          <p:cNvPr id="7" name="Alternativas evaluadas: excluir neutral o usar una banda de ">
            <a:extLst>
              <a:ext uri="{FF2B5EF4-FFF2-40B4-BE49-F238E27FC236}">
                <a16:creationId xmlns:a16="http://schemas.microsoft.com/office/drawing/2014/main" id="{EE18B035-6E91-4B36-AA23-46706F3273A1}"/>
              </a:ext>
            </a:extLst>
          </p:cNvPr>
          <p:cNvSpPr>
            <a:spLocks noGrp="1"/>
          </p:cNvSpPr>
          <p:nvPr/>
        </p:nvSpPr>
        <p:spPr>
          <a:xfrm>
            <a:off x="914400" y="7762875"/>
            <a:ext cx="164592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Alternativas evaluadas: excluir neutral o usar una banda de ±0,5% de la plantilla</a:t>
            </a:r>
          </a:p>
        </p:txBody>
      </p:sp>
      <p:sp>
        <p:nvSpPr>
          <p:cNvPr id="8" name="El empate de conteos pequeños depende de la resolución de me">
            <a:extLst>
              <a:ext uri="{FF2B5EF4-FFF2-40B4-BE49-F238E27FC236}">
                <a16:creationId xmlns:a16="http://schemas.microsoft.com/office/drawing/2014/main" id="{51E33DD9-908A-4F7E-8D1E-5C1BBACAB13D}"/>
              </a:ext>
            </a:extLst>
          </p:cNvPr>
          <p:cNvSpPr>
            <a:spLocks noGrp="1"/>
          </p:cNvSpPr>
          <p:nvPr/>
        </p:nvSpPr>
        <p:spPr>
          <a:xfrm>
            <a:off x="914400" y="8734425"/>
            <a:ext cx="155257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El empate de conteos pequeños depende de la resolución de medición. Un saldo cero puede incluir creación y desplazamiento.</a:t>
            </a:r>
          </a:p>
        </p:txBody>
      </p:sp>
    </p:spTree>
    <p:extLst>
      <p:ext uri="{BB962C8B-B14F-4D97-AF65-F5344CB8AC3E}">
        <p14:creationId xmlns:p14="http://schemas.microsoft.com/office/powerpoint/2010/main" val="582906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3: asociaciones del logit y sus componentes">
            <a:extLst>
              <a:ext uri="{FF2B5EF4-FFF2-40B4-BE49-F238E27FC236}">
                <a16:creationId xmlns:a16="http://schemas.microsoft.com/office/drawing/2014/main" id="{BD662194-B90D-4B67-85BF-56DABDCEEC10}"/>
              </a:ext>
            </a:extLst>
          </p:cNvPr>
          <p:cNvSpPr>
            <a:spLocks noGrp="1"/>
          </p:cNvSpPr>
          <p:nvPr/>
        </p:nvSpPr>
        <p:spPr>
          <a:xfrm>
            <a:off x="914400" y="704850"/>
            <a:ext cx="16459200" cy="1190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H3: asociaciones del logit y sus componentes</a:t>
            </a:r>
          </a:p>
        </p:txBody>
      </p:sp>
      <p:sp>
        <p:nvSpPr>
          <p:cNvPr id="2" name="7/10">
            <a:extLst>
              <a:ext uri="{FF2B5EF4-FFF2-40B4-BE49-F238E27FC236}">
                <a16:creationId xmlns:a16="http://schemas.microsoft.com/office/drawing/2014/main" id="{E56E9696-B305-42E0-A064-2CC2A7394C59}"/>
              </a:ext>
            </a:extLst>
          </p:cNvPr>
          <p:cNvSpPr>
            <a:spLocks noGrp="1"/>
          </p:cNvSpPr>
          <p:nvPr/>
        </p:nvSpPr>
        <p:spPr>
          <a:xfrm>
            <a:off x="16573500" y="9467850"/>
            <a:ext cx="809625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7/10</a:t>
            </a:r>
          </a:p>
        </p:txBody>
      </p:sp>
      <p:sp>
        <p:nvSpPr>
          <p:cNvPr id="3" name="Logit multinomial: compara creación y desplazamiento con neu">
            <a:extLst>
              <a:ext uri="{FF2B5EF4-FFF2-40B4-BE49-F238E27FC236}">
                <a16:creationId xmlns:a16="http://schemas.microsoft.com/office/drawing/2014/main" id="{939B8A6E-AFCA-428B-AA29-50930224A533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16459200" cy="1190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D1F20"/>
                </a:solidFill>
                <a:latin typeface="Arial"/>
                <a:ea typeface="Arial"/>
                <a:cs typeface="Arial"/>
              </a:rPr>
              <a:t>Logit multinomial: compara creación y desplazamiento con neutral, ajustando por características de la empresa y tiempo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BA19C7E7-BD2C-45AA-A431-EBFA77E70BCE}"/>
              </a:ext>
            </a:extLst>
          </p:cNvPr>
          <p:cNvGraphicFramePr/>
          <p:nvPr/>
        </p:nvGraphicFramePr>
        <p:xfrm>
          <a:off x="914400" y="3810000"/>
          <a:ext cx="164592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VIF máximo: 19,9. Se probó retirar empleados o tamaño y comp">
            <a:extLst>
              <a:ext uri="{FF2B5EF4-FFF2-40B4-BE49-F238E27FC236}">
                <a16:creationId xmlns:a16="http://schemas.microsoft.com/office/drawing/2014/main" id="{3F5C0E4C-2A34-4265-8C43-A1EB4264AEC4}"/>
              </a:ext>
            </a:extLst>
          </p:cNvPr>
          <p:cNvSpPr>
            <a:spLocks noGrp="1"/>
          </p:cNvSpPr>
          <p:nvPr/>
        </p:nvSpPr>
        <p:spPr>
          <a:xfrm>
            <a:off x="914400" y="7143750"/>
            <a:ext cx="164592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VIF máximo: 19,9. Se probó retirar empleados o tamaño y comparar errores y desempeño.</a:t>
            </a:r>
          </a:p>
        </p:txBody>
      </p:sp>
      <p:sp>
        <p:nvSpPr>
          <p:cNvPr id="6" name="Eje vertical: coeficiente log(RRR). Cero equivale a RRR=1. L">
            <a:extLst>
              <a:ext uri="{FF2B5EF4-FFF2-40B4-BE49-F238E27FC236}">
                <a16:creationId xmlns:a16="http://schemas.microsoft.com/office/drawing/2014/main" id="{F2ADB73D-DE1E-4644-997A-689724A032CA}"/>
              </a:ext>
            </a:extLst>
          </p:cNvPr>
          <p:cNvSpPr>
            <a:spLocks noGrp="1"/>
          </p:cNvSpPr>
          <p:nvPr/>
        </p:nvSpPr>
        <p:spPr>
          <a:xfrm>
            <a:off x="914400" y="8734425"/>
            <a:ext cx="155257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Eje vertical: coeficiente log(RRR). Cero equivale a RRR=1. Los signos no identifican un mecanismo causal.</a:t>
            </a:r>
          </a:p>
        </p:txBody>
      </p:sp>
    </p:spTree>
    <p:extLst>
      <p:ext uri="{BB962C8B-B14F-4D97-AF65-F5344CB8AC3E}">
        <p14:creationId xmlns:p14="http://schemas.microsoft.com/office/powerpoint/2010/main" val="722469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3: elección por macro-F1 de las tres clases">
            <a:extLst>
              <a:ext uri="{FF2B5EF4-FFF2-40B4-BE49-F238E27FC236}">
                <a16:creationId xmlns:a16="http://schemas.microsoft.com/office/drawing/2014/main" id="{6A0C924F-D713-4669-B1A2-ADAD03A7D72D}"/>
              </a:ext>
            </a:extLst>
          </p:cNvPr>
          <p:cNvSpPr>
            <a:spLocks noGrp="1"/>
          </p:cNvSpPr>
          <p:nvPr/>
        </p:nvSpPr>
        <p:spPr>
          <a:xfrm>
            <a:off x="914400" y="704850"/>
            <a:ext cx="16459200" cy="1190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H3: elección por macro-F1 de las tres clases</a:t>
            </a:r>
          </a:p>
        </p:txBody>
      </p:sp>
      <p:sp>
        <p:nvSpPr>
          <p:cNvPr id="2" name="8/10">
            <a:extLst>
              <a:ext uri="{FF2B5EF4-FFF2-40B4-BE49-F238E27FC236}">
                <a16:creationId xmlns:a16="http://schemas.microsoft.com/office/drawing/2014/main" id="{2DD6E7CD-B247-4636-8663-435E7AD3A3DC}"/>
              </a:ext>
            </a:extLst>
          </p:cNvPr>
          <p:cNvSpPr>
            <a:spLocks noGrp="1"/>
          </p:cNvSpPr>
          <p:nvPr/>
        </p:nvSpPr>
        <p:spPr>
          <a:xfrm>
            <a:off x="16573500" y="9467850"/>
            <a:ext cx="809625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8/10</a:t>
            </a:r>
          </a:p>
        </p:txBody>
      </p:sp>
      <p:sp>
        <p:nvSpPr>
          <p:cNvPr id="3" name="Logit estima probabilidades de las tres clases. Random Fores">
            <a:extLst>
              <a:ext uri="{FF2B5EF4-FFF2-40B4-BE49-F238E27FC236}">
                <a16:creationId xmlns:a16="http://schemas.microsoft.com/office/drawing/2014/main" id="{AC81A8AC-402E-4952-88B6-C6899C942C09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16459200" cy="1238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775" b="0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D1F20"/>
                </a:solidFill>
                <a:latin typeface="Arial"/>
                <a:ea typeface="Arial"/>
                <a:cs typeface="Arial"/>
              </a:rPr>
              <a:t>Logit estima probabilidades de las tres clases. Random Forest combina árboles. Ambos clasifican el saldo con los mismos ocho predictores.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5330C19-B6EA-4CCB-8269-9652C8B222AE}"/>
              </a:ext>
            </a:extLst>
          </p:cNvPr>
          <p:cNvGraphicFramePr/>
          <p:nvPr/>
        </p:nvGraphicFramePr>
        <p:xfrm>
          <a:off x="914400" y="4000500"/>
          <a:ext cx="10096500" cy="3524250"/>
        </p:xfrm>
        <a:graphic>
          <a:graphicData uri="http://schemas.openxmlformats.org/drawingml/2006/table">
            <a:tbl>
              <a:tblPr/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>
                    <a:lnL w="19050">
                      <a:solidFill>
                        <a:srgbClr val="F2F2F3"/>
                      </a:solidFill>
                      <a:prstDash val="soli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>
                      <a:solidFill>
                        <a:srgbClr val="F2F2F3"/>
                      </a:solidFill>
                      <a:prstDash val="soli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5980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>
                      <a:solidFill>
                        <a:srgbClr val="F2F2F3"/>
                      </a:solidFill>
                      <a:prstDash val="soli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5980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 creación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>
                      <a:solidFill>
                        <a:srgbClr val="F2F2F3"/>
                      </a:solidFill>
                      <a:prstDash val="soli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5980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 desplaz.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>
                      <a:solidFill>
                        <a:srgbClr val="F2F2F3"/>
                      </a:solidFill>
                      <a:prstDash val="soli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598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Logit lineal</a:t>
                      </a:r>
                    </a:p>
                  </a:txBody>
                  <a:tcPr>
                    <a:lnL w="19050">
                      <a:solidFill>
                        <a:srgbClr val="F2F2F3"/>
                      </a:solidFill>
                      <a:prstDash val="soli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0,673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0,740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0,709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Logit spline</a:t>
                      </a:r>
                    </a:p>
                  </a:txBody>
                  <a:tcPr>
                    <a:lnL w="19050">
                      <a:solidFill>
                        <a:srgbClr val="F2F2F3"/>
                      </a:solidFill>
                      <a:prstDash val="soli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E6EB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0,676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E6EB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0,739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E6EB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0,708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E6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RF base</a:t>
                      </a:r>
                    </a:p>
                  </a:txBody>
                  <a:tcPr>
                    <a:lnL w="19050">
                      <a:solidFill>
                        <a:srgbClr val="F2F2F3"/>
                      </a:solidFill>
                      <a:prstDash val="soli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0,671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0,735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0,702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RF ampliado</a:t>
                      </a:r>
                    </a:p>
                  </a:txBody>
                  <a:tcPr>
                    <a:lnL w="19050">
                      <a:solidFill>
                        <a:srgbClr val="F2F2F3"/>
                      </a:solidFill>
                      <a:prstDash val="soli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E6EB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0,675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E6EB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0,738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E6EB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0,707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E6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F ampliado: errores por clase">
            <a:extLst>
              <a:ext uri="{FF2B5EF4-FFF2-40B4-BE49-F238E27FC236}">
                <a16:creationId xmlns:a16="http://schemas.microsoft.com/office/drawing/2014/main" id="{38EA8D4F-5F38-4213-9EB2-FAD7401B2D78}"/>
              </a:ext>
            </a:extLst>
          </p:cNvPr>
          <p:cNvSpPr>
            <a:spLocks noGrp="1"/>
          </p:cNvSpPr>
          <p:nvPr/>
        </p:nvSpPr>
        <p:spPr>
          <a:xfrm>
            <a:off x="11525250" y="3476625"/>
            <a:ext cx="58483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RF ampliado: errores por clase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67149DE-24BB-46CB-BCFB-1753EBFF22BD}"/>
              </a:ext>
            </a:extLst>
          </p:cNvPr>
          <p:cNvGraphicFramePr/>
          <p:nvPr/>
        </p:nvGraphicFramePr>
        <p:xfrm>
          <a:off x="11525250" y="4238625"/>
          <a:ext cx="5848350" cy="3143252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Real / pred.</a:t>
                      </a:r>
                    </a:p>
                  </a:txBody>
                  <a:tcPr>
                    <a:lnL w="19050">
                      <a:solidFill>
                        <a:srgbClr val="F2F2F3"/>
                      </a:solidFill>
                      <a:prstDash val="soli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>
                      <a:solidFill>
                        <a:srgbClr val="F2F2F3"/>
                      </a:solidFill>
                      <a:prstDash val="soli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5980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Neutral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>
                      <a:solidFill>
                        <a:srgbClr val="F2F2F3"/>
                      </a:solidFill>
                      <a:prstDash val="soli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5980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Creación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>
                      <a:solidFill>
                        <a:srgbClr val="F2F2F3"/>
                      </a:solidFill>
                      <a:prstDash val="soli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5980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Desplaz.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>
                      <a:solidFill>
                        <a:srgbClr val="F2F2F3"/>
                      </a:solidFill>
                      <a:prstDash val="soli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598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Neutral</a:t>
                      </a:r>
                    </a:p>
                  </a:txBody>
                  <a:tcPr>
                    <a:lnL w="19050">
                      <a:solidFill>
                        <a:srgbClr val="F2F2F3"/>
                      </a:solidFill>
                      <a:prstDash val="soli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54,5%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B4C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23,3%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B4C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22,1%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B4C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Creación</a:t>
                      </a:r>
                    </a:p>
                  </a:txBody>
                  <a:tcPr>
                    <a:lnL w="19050">
                      <a:solidFill>
                        <a:srgbClr val="F2F2F3"/>
                      </a:solidFill>
                      <a:prstDash val="soli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E6EB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7,1%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E5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75,3%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5980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17,6%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E5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Desplaz.</a:t>
                      </a:r>
                    </a:p>
                  </a:txBody>
                  <a:tcPr>
                    <a:lnL w="19050">
                      <a:solidFill>
                        <a:srgbClr val="F2F2F3"/>
                      </a:solidFill>
                      <a:prstDash val="soli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7,5%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E5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D1F20"/>
                          </a:solidFill>
                          <a:latin typeface="Arial"/>
                          <a:ea typeface="Arial"/>
                          <a:cs typeface="Arial"/>
                        </a:rPr>
                        <a:t>21,5%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B4C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71,0%</a:t>
                      </a:r>
                    </a:p>
                  </a:txBody>
                  <a:tcPr>
                    <a:lnL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2F2F3"/>
                      </a:solidFill>
                      <a:prstDash val="solid"/>
                    </a:lnR>
                    <a:lnT w="19050" cap="flat" cmpd="sng" algn="ctr">
                      <a:solidFill>
                        <a:srgbClr val="F2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2F2F3"/>
                      </a:solidFill>
                      <a:prstDash val="solid"/>
                    </a:lnB>
                    <a:solidFill>
                      <a:srgbClr val="598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Porcentajes por fila observada">
            <a:extLst>
              <a:ext uri="{FF2B5EF4-FFF2-40B4-BE49-F238E27FC236}">
                <a16:creationId xmlns:a16="http://schemas.microsoft.com/office/drawing/2014/main" id="{C18BA5E7-6327-4B4C-B430-B8FAD77EFDEA}"/>
              </a:ext>
            </a:extLst>
          </p:cNvPr>
          <p:cNvSpPr>
            <a:spLocks noGrp="1"/>
          </p:cNvSpPr>
          <p:nvPr/>
        </p:nvSpPr>
        <p:spPr>
          <a:xfrm>
            <a:off x="11525250" y="7572375"/>
            <a:ext cx="58483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Porcentajes por fila observada</a:t>
            </a:r>
          </a:p>
        </p:txBody>
      </p:sp>
      <p:sp>
        <p:nvSpPr>
          <p:cNvPr id="8" name="Elegido por CV: RF ampliado. Referencia mayoritaria: 43,4% d">
            <a:extLst>
              <a:ext uri="{FF2B5EF4-FFF2-40B4-BE49-F238E27FC236}">
                <a16:creationId xmlns:a16="http://schemas.microsoft.com/office/drawing/2014/main" id="{38FC23F9-826C-4D01-A0E8-CE220ACB307E}"/>
              </a:ext>
            </a:extLst>
          </p:cNvPr>
          <p:cNvSpPr>
            <a:spLocks noGrp="1"/>
          </p:cNvSpPr>
          <p:nvPr/>
        </p:nvSpPr>
        <p:spPr>
          <a:xfrm>
            <a:off x="914400" y="8096250"/>
            <a:ext cx="164592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70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Elegido por CV: RF ampliado. Referencia mayoritaria: 43,4% de acierto.</a:t>
            </a:r>
          </a:p>
        </p:txBody>
      </p:sp>
      <p:sp>
        <p:nvSpPr>
          <p:cNvPr id="9" name="Se mantienen las tres clases en la métrica principal. No se ">
            <a:extLst>
              <a:ext uri="{FF2B5EF4-FFF2-40B4-BE49-F238E27FC236}">
                <a16:creationId xmlns:a16="http://schemas.microsoft.com/office/drawing/2014/main" id="{4CFF99DC-EB5D-45C5-B89D-2DC8B8BD77BB}"/>
              </a:ext>
            </a:extLst>
          </p:cNvPr>
          <p:cNvSpPr>
            <a:spLocks noGrp="1"/>
          </p:cNvSpPr>
          <p:nvPr/>
        </p:nvSpPr>
        <p:spPr>
          <a:xfrm>
            <a:off x="914400" y="9048750"/>
            <a:ext cx="155257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Se mantienen las tres clases en la métrica principal. No se cambia el criterio para favorecer otro modelo.</a:t>
            </a:r>
          </a:p>
        </p:txBody>
      </p:sp>
    </p:spTree>
    <p:extLst>
      <p:ext uri="{BB962C8B-B14F-4D97-AF65-F5344CB8AC3E}">
        <p14:creationId xmlns:p14="http://schemas.microsoft.com/office/powerpoint/2010/main" val="954239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valuación temporal y anticipación a un trimestre">
            <a:extLst>
              <a:ext uri="{FF2B5EF4-FFF2-40B4-BE49-F238E27FC236}">
                <a16:creationId xmlns:a16="http://schemas.microsoft.com/office/drawing/2014/main" id="{BF4511B2-86EC-4D6B-8C91-8BA9A9E0DD6A}"/>
              </a:ext>
            </a:extLst>
          </p:cNvPr>
          <p:cNvSpPr>
            <a:spLocks noGrp="1"/>
          </p:cNvSpPr>
          <p:nvPr/>
        </p:nvSpPr>
        <p:spPr>
          <a:xfrm>
            <a:off x="914400" y="704850"/>
            <a:ext cx="16459200" cy="1190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Evaluación temporal y anticipación a un trimestre</a:t>
            </a:r>
          </a:p>
        </p:txBody>
      </p:sp>
      <p:sp>
        <p:nvSpPr>
          <p:cNvPr id="2" name="9/10">
            <a:extLst>
              <a:ext uri="{FF2B5EF4-FFF2-40B4-BE49-F238E27FC236}">
                <a16:creationId xmlns:a16="http://schemas.microsoft.com/office/drawing/2014/main" id="{EDF710C6-982C-4A2F-AF2A-EBFD91D06DD1}"/>
              </a:ext>
            </a:extLst>
          </p:cNvPr>
          <p:cNvSpPr>
            <a:spLocks noGrp="1"/>
          </p:cNvSpPr>
          <p:nvPr/>
        </p:nvSpPr>
        <p:spPr>
          <a:xfrm>
            <a:off x="16573500" y="9467850"/>
            <a:ext cx="809625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9/10</a:t>
            </a:r>
          </a:p>
        </p:txBody>
      </p:sp>
      <p:sp>
        <p:nvSpPr>
          <p:cNvPr id="3" name="Train 2023–2024 · Validación 2025 · Test 2026">
            <a:extLst>
              <a:ext uri="{FF2B5EF4-FFF2-40B4-BE49-F238E27FC236}">
                <a16:creationId xmlns:a16="http://schemas.microsoft.com/office/drawing/2014/main" id="{7C7E7041-41BE-4C1C-9292-F3B7D2B585CA}"/>
              </a:ext>
            </a:extLst>
          </p:cNvPr>
          <p:cNvSpPr>
            <a:spLocks noGrp="1"/>
          </p:cNvSpPr>
          <p:nvPr/>
        </p:nvSpPr>
        <p:spPr>
          <a:xfrm>
            <a:off x="914400" y="2143125"/>
            <a:ext cx="164592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150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Train 2023–2024 · Validación 2025 · Test 2026</a:t>
            </a:r>
          </a:p>
        </p:txBody>
      </p:sp>
      <p:sp>
        <p:nvSpPr>
          <p:cNvPr id="4" name="Productividad · Ridge · MAE (pp)">
            <a:extLst>
              <a:ext uri="{FF2B5EF4-FFF2-40B4-BE49-F238E27FC236}">
                <a16:creationId xmlns:a16="http://schemas.microsoft.com/office/drawing/2014/main" id="{BED52FF4-A58C-4996-83B0-6C95D996793F}"/>
              </a:ext>
            </a:extLst>
          </p:cNvPr>
          <p:cNvSpPr>
            <a:spLocks noGrp="1"/>
          </p:cNvSpPr>
          <p:nvPr/>
        </p:nvSpPr>
        <p:spPr>
          <a:xfrm>
            <a:off x="914400" y="3190875"/>
            <a:ext cx="7715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Productividad · Ridge · MAE (pp)</a:t>
            </a:r>
          </a:p>
        </p:txBody>
      </p:sp>
      <p:sp>
        <p:nvSpPr>
          <p:cNvPr id="5" name="Empleo · Logit · macro-F1">
            <a:extLst>
              <a:ext uri="{FF2B5EF4-FFF2-40B4-BE49-F238E27FC236}">
                <a16:creationId xmlns:a16="http://schemas.microsoft.com/office/drawing/2014/main" id="{73CF138F-AF65-4872-B35C-DF476EB0A43B}"/>
              </a:ext>
            </a:extLst>
          </p:cNvPr>
          <p:cNvSpPr>
            <a:spLocks noGrp="1"/>
          </p:cNvSpPr>
          <p:nvPr/>
        </p:nvSpPr>
        <p:spPr>
          <a:xfrm>
            <a:off x="9667875" y="3190875"/>
            <a:ext cx="7715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2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Empleo · Logit · macro-F1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3D60B0F5-DAC1-49FA-BD5A-2C75312E853D}"/>
              </a:ext>
            </a:extLst>
          </p:cNvPr>
          <p:cNvGraphicFramePr/>
          <p:nvPr/>
        </p:nvGraphicFramePr>
        <p:xfrm>
          <a:off x="914400" y="4000500"/>
          <a:ext cx="771525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E6819CD1-CC78-4F54-BDDE-941B909C7CFF}"/>
              </a:ext>
            </a:extLst>
          </p:cNvPr>
          <p:cNvGraphicFramePr/>
          <p:nvPr/>
        </p:nvGraphicFramePr>
        <p:xfrm>
          <a:off x="9667875" y="4000500"/>
          <a:ext cx="771525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Muestras distintas: 37.544 filas contemporáneas y 35.233 par">
            <a:extLst>
              <a:ext uri="{FF2B5EF4-FFF2-40B4-BE49-F238E27FC236}">
                <a16:creationId xmlns:a16="http://schemas.microsoft.com/office/drawing/2014/main" id="{35B3ED1B-AC5A-4B0E-846C-FA163AC7F289}"/>
              </a:ext>
            </a:extLst>
          </p:cNvPr>
          <p:cNvSpPr>
            <a:spLocks noGrp="1"/>
          </p:cNvSpPr>
          <p:nvPr/>
        </p:nvSpPr>
        <p:spPr>
          <a:xfrm>
            <a:off x="914400" y="7096125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Muestras distintas: 37.544 filas contemporáneas y 35.233 pares consecutivos</a:t>
            </a:r>
          </a:p>
        </p:txBody>
      </p:sp>
      <p:sp>
        <p:nvSpPr>
          <p:cNvPr id="9" name="Un hueco del panel no se salta: t−1 debe ser el trimestre ca">
            <a:extLst>
              <a:ext uri="{FF2B5EF4-FFF2-40B4-BE49-F238E27FC236}">
                <a16:creationId xmlns:a16="http://schemas.microsoft.com/office/drawing/2014/main" id="{6A2B900F-A409-420A-8CFD-CE23AF571994}"/>
              </a:ext>
            </a:extLst>
          </p:cNvPr>
          <p:cNvSpPr>
            <a:spLocks noGrp="1"/>
          </p:cNvSpPr>
          <p:nvPr/>
        </p:nvSpPr>
        <p:spPr>
          <a:xfrm>
            <a:off x="914400" y="7858125"/>
            <a:ext cx="164592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7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Un hueco del panel no se salta: t−1 debe ser el trimestre calendario inmediatamente anterior</a:t>
            </a:r>
          </a:p>
        </p:txBody>
      </p:sp>
      <p:sp>
        <p:nvSpPr>
          <p:cNvPr id="10" name="Solo X de t−1 mide anticipación secuencial. Permite observar">
            <a:extLst>
              <a:ext uri="{FF2B5EF4-FFF2-40B4-BE49-F238E27FC236}">
                <a16:creationId xmlns:a16="http://schemas.microsoft.com/office/drawing/2014/main" id="{F4A5B481-5689-45D3-A637-A09EA9CE34D8}"/>
              </a:ext>
            </a:extLst>
          </p:cNvPr>
          <p:cNvSpPr>
            <a:spLocks noGrp="1"/>
          </p:cNvSpPr>
          <p:nvPr/>
        </p:nvSpPr>
        <p:spPr>
          <a:xfrm>
            <a:off x="914400" y="8734425"/>
            <a:ext cx="155257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Solo X de t−1 mide anticipación secuencial. Permite observar trimestres previos de test a medida que transcurre el año.</a:t>
            </a:r>
          </a:p>
        </p:txBody>
      </p:sp>
    </p:spTree>
    <p:extLst>
      <p:ext uri="{BB962C8B-B14F-4D97-AF65-F5344CB8AC3E}">
        <p14:creationId xmlns:p14="http://schemas.microsoft.com/office/powerpoint/2010/main" val="1371883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clusiones y alcance de la evidencia">
            <a:extLst>
              <a:ext uri="{FF2B5EF4-FFF2-40B4-BE49-F238E27FC236}">
                <a16:creationId xmlns:a16="http://schemas.microsoft.com/office/drawing/2014/main" id="{9CC41671-8BF8-4DC0-B331-CE4BE9CA3089}"/>
              </a:ext>
            </a:extLst>
          </p:cNvPr>
          <p:cNvSpPr>
            <a:spLocks noGrp="1"/>
          </p:cNvSpPr>
          <p:nvPr/>
        </p:nvSpPr>
        <p:spPr>
          <a:xfrm>
            <a:off x="914400" y="704850"/>
            <a:ext cx="16459200" cy="1190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800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Conclusiones y alcance de la evidencia</a:t>
            </a:r>
          </a:p>
        </p:txBody>
      </p:sp>
      <p:sp>
        <p:nvSpPr>
          <p:cNvPr id="2" name="10/10">
            <a:extLst>
              <a:ext uri="{FF2B5EF4-FFF2-40B4-BE49-F238E27FC236}">
                <a16:creationId xmlns:a16="http://schemas.microsoft.com/office/drawing/2014/main" id="{95E52B09-5688-45DA-A76C-711929BC8947}"/>
              </a:ext>
            </a:extLst>
          </p:cNvPr>
          <p:cNvSpPr>
            <a:spLocks noGrp="1"/>
          </p:cNvSpPr>
          <p:nvPr/>
        </p:nvSpPr>
        <p:spPr>
          <a:xfrm>
            <a:off x="16573500" y="9467850"/>
            <a:ext cx="809625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10/10</a:t>
            </a:r>
          </a:p>
        </p:txBody>
      </p:sp>
      <p:sp>
        <p:nvSpPr>
          <p:cNvPr id="3" name="H1 · La magnitud de inversión depende del control de adopció">
            <a:extLst>
              <a:ext uri="{FF2B5EF4-FFF2-40B4-BE49-F238E27FC236}">
                <a16:creationId xmlns:a16="http://schemas.microsoft.com/office/drawing/2014/main" id="{075B6623-939F-42B3-8AC7-277DB6E4A06F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16459200" cy="1381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7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75" b="1">
                <a:solidFill>
                  <a:srgbClr val="5980A6"/>
                </a:solidFill>
                <a:latin typeface="Arial"/>
                <a:ea typeface="Arial"/>
                <a:cs typeface="Arial"/>
              </a:defRPr>
            </a:pPr>
            <a:r>
              <a:rPr sz="3375" b="1" dirty="0">
                <a:solidFill>
                  <a:srgbClr val="5980A6"/>
                </a:solidFill>
                <a:latin typeface="Arial"/>
                <a:ea typeface="Arial"/>
                <a:cs typeface="Arial"/>
              </a:rPr>
              <a:t>H1 · </a:t>
            </a:r>
            <a:r>
              <a:rPr lang="es-ES" dirty="0"/>
              <a:t>El cambio de la </a:t>
            </a:r>
            <a:r>
              <a:rPr lang="es-ES" sz="3375" b="1" dirty="0">
                <a:solidFill>
                  <a:srgbClr val="5980A6"/>
                </a:solidFill>
                <a:latin typeface="Arial"/>
                <a:ea typeface="Arial"/>
                <a:cs typeface="Arial"/>
              </a:rPr>
              <a:t>productividad es dependiente de la</a:t>
            </a:r>
            <a:r>
              <a:rPr sz="3375" b="1" dirty="0">
                <a:solidFill>
                  <a:srgbClr val="5980A6"/>
                </a:solidFill>
                <a:latin typeface="Arial"/>
                <a:ea typeface="Arial"/>
                <a:cs typeface="Arial"/>
              </a:rPr>
              <a:t> </a:t>
            </a:r>
            <a:r>
              <a:rPr sz="3375" b="1" dirty="0" err="1">
                <a:solidFill>
                  <a:srgbClr val="5980A6"/>
                </a:solidFill>
                <a:latin typeface="Arial"/>
                <a:ea typeface="Arial"/>
                <a:cs typeface="Arial"/>
              </a:rPr>
              <a:t>magnitud</a:t>
            </a:r>
            <a:r>
              <a:rPr sz="3375" b="1" dirty="0">
                <a:solidFill>
                  <a:srgbClr val="5980A6"/>
                </a:solidFill>
                <a:latin typeface="Arial"/>
                <a:ea typeface="Arial"/>
                <a:cs typeface="Arial"/>
              </a:rPr>
              <a:t> de </a:t>
            </a:r>
            <a:r>
              <a:rPr sz="3375" b="1" dirty="0" err="1">
                <a:solidFill>
                  <a:srgbClr val="5980A6"/>
                </a:solidFill>
                <a:latin typeface="Arial"/>
                <a:ea typeface="Arial"/>
                <a:cs typeface="Arial"/>
              </a:rPr>
              <a:t>inversión</a:t>
            </a:r>
            <a:r>
              <a:rPr sz="3375" b="1" dirty="0">
                <a:solidFill>
                  <a:srgbClr val="5980A6"/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dirty="0" err="1"/>
              <a:t>mediadia</a:t>
            </a:r>
            <a:r>
              <a:rPr lang="es-ES" dirty="0"/>
              <a:t> </a:t>
            </a:r>
            <a:r>
              <a:rPr lang="es-ES" dirty="0" err="1"/>
              <a:t>via</a:t>
            </a:r>
            <a:r>
              <a:rPr sz="3375" b="1" dirty="0">
                <a:solidFill>
                  <a:srgbClr val="5980A6"/>
                </a:solidFill>
                <a:latin typeface="Arial"/>
                <a:ea typeface="Arial"/>
                <a:cs typeface="Arial"/>
              </a:rPr>
              <a:t> control de </a:t>
            </a:r>
            <a:r>
              <a:rPr sz="3375" b="1" dirty="0" err="1">
                <a:solidFill>
                  <a:srgbClr val="5980A6"/>
                </a:solidFill>
                <a:latin typeface="Arial"/>
                <a:ea typeface="Arial"/>
                <a:cs typeface="Arial"/>
              </a:rPr>
              <a:t>adopción</a:t>
            </a:r>
            <a:r>
              <a:rPr sz="3375" b="1" dirty="0">
                <a:solidFill>
                  <a:srgbClr val="5980A6"/>
                </a:solidFill>
                <a:latin typeface="Arial"/>
                <a:ea typeface="Arial"/>
                <a:cs typeface="Arial"/>
              </a:rPr>
              <a:t> y </a:t>
            </a:r>
            <a:r>
              <a:rPr sz="3375" b="1" dirty="0" err="1">
                <a:solidFill>
                  <a:srgbClr val="5980A6"/>
                </a:solidFill>
                <a:latin typeface="Arial"/>
                <a:ea typeface="Arial"/>
                <a:cs typeface="Arial"/>
              </a:rPr>
              <a:t>observaciones</a:t>
            </a:r>
            <a:r>
              <a:rPr sz="3375" b="1" dirty="0">
                <a:solidFill>
                  <a:srgbClr val="5980A6"/>
                </a:solidFill>
                <a:latin typeface="Arial"/>
                <a:ea typeface="Arial"/>
                <a:cs typeface="Arial"/>
              </a:rPr>
              <a:t> </a:t>
            </a:r>
            <a:r>
              <a:rPr sz="3375" b="1" dirty="0" err="1">
                <a:solidFill>
                  <a:srgbClr val="5980A6"/>
                </a:solidFill>
                <a:latin typeface="Arial"/>
                <a:ea typeface="Arial"/>
                <a:cs typeface="Arial"/>
              </a:rPr>
              <a:t>influyentes</a:t>
            </a:r>
            <a:r>
              <a:rPr lang="es-ES" sz="3375" b="1" dirty="0">
                <a:solidFill>
                  <a:srgbClr val="5980A6"/>
                </a:solidFill>
                <a:latin typeface="Arial"/>
                <a:ea typeface="Arial"/>
                <a:cs typeface="Arial"/>
              </a:rPr>
              <a:t>.</a:t>
            </a:r>
            <a:endParaRPr sz="3375" b="1" dirty="0">
              <a:solidFill>
                <a:srgbClr val="5980A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H3 · El saldo combina creación y desplazamiento. Neutral y l">
            <a:extLst>
              <a:ext uri="{FF2B5EF4-FFF2-40B4-BE49-F238E27FC236}">
                <a16:creationId xmlns:a16="http://schemas.microsoft.com/office/drawing/2014/main" id="{8C39301A-9CC7-49D5-915E-2BBDA04DAD34}"/>
              </a:ext>
            </a:extLst>
          </p:cNvPr>
          <p:cNvSpPr>
            <a:spLocks noGrp="1"/>
          </p:cNvSpPr>
          <p:nvPr/>
        </p:nvSpPr>
        <p:spPr>
          <a:xfrm>
            <a:off x="914400" y="4333875"/>
            <a:ext cx="16459200" cy="1381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D1F20"/>
                </a:solidFill>
                <a:latin typeface="Arial"/>
                <a:ea typeface="Arial"/>
                <a:cs typeface="Arial"/>
              </a:defRPr>
            </a:pPr>
            <a:r>
              <a:rPr sz="3225" b="1" dirty="0">
                <a:solidFill>
                  <a:srgbClr val="1D1F20"/>
                </a:solidFill>
                <a:latin typeface="Arial"/>
                <a:ea typeface="Arial"/>
                <a:cs typeface="Arial"/>
              </a:rPr>
              <a:t>H3 · </a:t>
            </a:r>
            <a:r>
              <a:rPr lang="es-ES" sz="3225" b="1" dirty="0">
                <a:solidFill>
                  <a:srgbClr val="1D1F20"/>
                </a:solidFill>
                <a:latin typeface="Arial"/>
                <a:ea typeface="Arial"/>
                <a:cs typeface="Arial"/>
              </a:rPr>
              <a:t>Mas adopción de IA se relaciona directamente con la mayor creación neta, mientras que la automatización se relaciona con el desplazamiento neto.</a:t>
            </a:r>
            <a:endParaRPr sz="3225" b="1" dirty="0">
              <a:solidFill>
                <a:srgbClr val="1D1F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Pendientes: documentación del generador, casos de uso, trans">
            <a:extLst>
              <a:ext uri="{FF2B5EF4-FFF2-40B4-BE49-F238E27FC236}">
                <a16:creationId xmlns:a16="http://schemas.microsoft.com/office/drawing/2014/main" id="{0C0A85A6-2275-425D-AA17-C6C25E421BB1}"/>
              </a:ext>
            </a:extLst>
          </p:cNvPr>
          <p:cNvSpPr>
            <a:spLocks noGrp="1"/>
          </p:cNvSpPr>
          <p:nvPr/>
        </p:nvSpPr>
        <p:spPr>
          <a:xfrm>
            <a:off x="914400" y="8734425"/>
            <a:ext cx="155257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525D6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5D66"/>
                </a:solidFill>
                <a:latin typeface="Arial"/>
                <a:ea typeface="Arial"/>
                <a:cs typeface="Arial"/>
              </a:rPr>
              <a:t>Pendientes: documentación del generador, casos de uso, transformación de tareas y validación prospectiva independiente.</a:t>
            </a:r>
          </a:p>
        </p:txBody>
      </p:sp>
    </p:spTree>
    <p:extLst>
      <p:ext uri="{BB962C8B-B14F-4D97-AF65-F5344CB8AC3E}">
        <p14:creationId xmlns:p14="http://schemas.microsoft.com/office/powerpoint/2010/main" val="13160167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1573</Words>
  <Application>Microsoft Office PowerPoint</Application>
  <DocSecurity>0</DocSecurity>
  <PresentationFormat>Personalizado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Aptos</vt:lpstr>
      <vt:lpstr>Arial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Sebastian Rigo</cp:lastModifiedBy>
  <cp:revision>1</cp:revision>
  <dcterms:created xsi:type="dcterms:W3CDTF">2026-10-29T18:55:46Z</dcterms:created>
  <dcterms:modified xsi:type="dcterms:W3CDTF">2026-10-29T21:54:03Z</dcterms:modified>
</cp:coreProperties>
</file>